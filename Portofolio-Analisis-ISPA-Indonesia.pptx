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400" b="1" i="0">
                <a:solidFill>
                  <a:srgbClr val="FFFFFF"/>
                </a:solidFill>
              </a:rPr>
              <a:t>ISPA di Indonesia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 i="0">
                <a:solidFill>
                  <a:srgbClr val="FFFFFF"/>
                </a:solidFill>
              </a:rPr>
              <a:t>Lonjakan Kasus, Sebaran Provinsi, dan Dampak Karhutla &amp; Kualitas Udara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49039"/>
            <a:ext cx="1371600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</a:rPr>
              <a:t>BAGHIZ ASSHIDDIQIE ARASYA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</a:rPr>
              <a:t>Analisis Data Kesehatan Masyarakat  •  SQL + Python  •  Oktober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1">
                <a:solidFill>
                  <a:srgbClr val="BFDBFE"/>
                </a:solidFill>
              </a:rPr>
              <a:t>Data kompilasi dari angka resmi Kemenkes / SKDR / ISPU — setiap angka bersumber.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Mengapa ISPA 2026 Mendesak?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ISPA adalah infeksi saluran pernapasan akut: batuk, pilek, sesak napas.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Laporan nasional 2026 tembus 14.088.945 laporan (SKDR, s.d. minggu ke-38).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Laporan mingguan di atas 400 ribu sejak minggu ke-27 — naik ke ~420 ribu pada puncak kemarau.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Bersamaan dengan karhutla dan kualitas udara yang memburuk di Sumatra dan Kalimantan.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Pertanyaan: seberapa besar, di mana, siapa yang paling terdampak?</a:t>
            </a:r>
          </a:p>
        </p:txBody>
      </p:sp>
      <p:pic>
        <p:nvPicPr>
          <p:cNvPr id="5" name="Picture 4" descr="09_mingguan_nas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34094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Laporan mingguan nasional naik 5% ke puncak kemarau.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Data &amp; Metode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Dataset KOMPILASI dari angka resmi yang dipublikasikan (Kemenkes, SKDR, ISPU, Dinkes DKI, BPS).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Tidak ada file CSV mentah ISPA di data.go.id / Jakarta Open Data — setiap angka dicatat sumber + tanggalnya.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Dua seri dipisah ketat: seri nasional SKDR vs seri pemantauan karhutla (cakupan dan tanggal berbeda).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Pipeline: kompilasi CSV → SQLite → query SQL → chart Python → interpretasi.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Perbandingan antarprovinsi dinormalisasi per 1.000 penduduk (BPS 2026).</a:t>
            </a:r>
          </a:p>
        </p:txBody>
      </p:sp>
      <p:pic>
        <p:nvPicPr>
          <p:cNvPr id="5" name="Picture 4" descr="02_pangsa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3788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10 provinsi teratas = 74,7% laporan nasional.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Temuan 1: Kasus Sangat Terkonsentrasi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10 provinsi teratas mencatat 10.530.385 laporan = 74,7% total nasional.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4 provinsi teratas saja (Jabar, Jateng, Jakarta, Jatim) = 55,8% nasional.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Jawa Barat tertinggi: 2.533.888 laporan (17,98% nasional).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86,3% laporan top-10 berasal dari Pulau Jawa.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Peringatan: dominasi Jawa ikut dipengaruhi jumlah penduduk dan kelengkapan pelaporan.</a:t>
            </a:r>
          </a:p>
        </p:txBody>
      </p:sp>
      <p:pic>
        <p:nvPicPr>
          <p:cNvPr id="5" name="Picture 4" descr="01_top10_absol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3241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10 provinsi dengan kasus ISPA terbanyak, SKDR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Temuan 2: Per Kapita, Jakarta Beban Terberat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Angka absolut menipu: provinsi besar otomatis mencatat kasus lebih banyak.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Setelah dibagi populasi: Jakarta 150,0 kasus per 1.000 penduduk.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Itu ~3x Jawa Barat (49,5) dan ~2,3x Banten (65,8).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Jakarta mencatat kasus 1,16x Jawa Timur dengan penduduk hanya seperempatnya.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Implikasi: surveilans dan kesiapan RS Jakarta perlu prioritas pada puncak kemarau.</a:t>
            </a:r>
          </a:p>
        </p:txBody>
      </p:sp>
      <p:pic>
        <p:nvPicPr>
          <p:cNvPr id="5" name="Picture 4" descr="03_per_kap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2946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Kasus per 1.000 penduduk (populasi BPS 2026).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Temuan 3: 283.270 Kasus ISPA Karhutla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Seri pemantauan karhutla (terpisah dari seri nasional): 283.270 kasus, 18 Agt–13 Okt 2026.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Tercatat di 63 kabupaten/kota, 7 provinsi — rata-rata 4.496 kasus per kab/kota.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Kalsel (74.636) dan Sumsel (74.458) bersama = 52,6% kasus karhutla; selisih hanya 178 kasus.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Kumulatif naik 21,1x dalam 7 minggu: 13.449 (27 Agt) → 283.270 (13 Okt).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13 Oktober saja: 3.897 kasus baru harian.</a:t>
            </a:r>
          </a:p>
        </p:txBody>
      </p:sp>
      <p:pic>
        <p:nvPicPr>
          <p:cNvPr id="5" name="Picture 4" descr="06_karhutla_pertumbuh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Pertumbuhan kumulatif seri karhutla.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Temuan 4: Hampir 1 dari 4 Kasus Karhutla adalah Balita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Balita (0–5 tahun): 63.711 kasus = 22,5% dari total seri karhutla.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Usia di atas 5 tahun: 219.559 kasus (77,5%).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Porsi balita stabil: 23,1% (21 Sep) → 22,5% (13 Okt).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Anak adalah kelompok rentan utama paparan asap: saluran napas lebih kecil, frekuensi napas lebih tinggi.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Respons: 2.106 tenaga kesehatan dimobilisasi; &gt;2,8 juta masker didistribusikan.</a:t>
            </a:r>
          </a:p>
        </p:txBody>
      </p:sp>
      <p:pic>
        <p:nvPicPr>
          <p:cNvPr id="5" name="Picture 4" descr="05_karhutla_u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3788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Kasus ISPA karhutla menurut usia.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Temuan 5: Udara Jauh di Atas Ambang Berbahaya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PM2,5 di 10 wilayah terburuk: 507–1.837 (12 Okt 2026, 15:00 WIB).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Barito Kuala 1.837 = 6,1 kali ambang ISPU 'berbahaya' (&gt;300).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7 dari 10 wilayah terburuk berada di Kalimantan Tengah.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Kemenkes: 12 kab/kota berkategori berbahaya, 9 wilayah sangat tidak sehat.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Asap karhutla mengandung PM2,5 yang masuk jauh ke saluran pernapasan (WHO).</a:t>
            </a:r>
          </a:p>
        </p:txBody>
      </p:sp>
      <p:pic>
        <p:nvPicPr>
          <p:cNvPr id="5" name="Picture 4" descr="07_is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303520" cy="3241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603504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 i="1">
                <a:solidFill>
                  <a:srgbClr val="6B7280"/>
                </a:solidFill>
              </a:rPr>
              <a:t>Konsentrasi PM2,5, 10 wilayah terburuk.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 i="0">
                <a:solidFill>
                  <a:srgbClr val="1E3A8A"/>
                </a:solidFill>
              </a:rPr>
              <a:t>Rekomendasi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3716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Lindungi balita di wilayah karhutla: masker anak, pembelajaran jarak jauh saat ISPU berbahaya, posko kesehatan.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Fokus pada Kalsel dan Sumsel: 52,6% kasus karhutla — pertahankan distribusi masker dan tenaga kesehatan.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Perhatikan Jakarta: beban per kapita 150,0/1.000 — perkuat surveilans puskesmas dan kesiapan RS saat puncak kemarau.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Mulai sebelum kemarau: laporan sudah &gt;400 ribu/minggu sejak minggu ke-27.</a:t>
            </a:r>
          </a:p>
          <a:p>
            <a:pPr marL="171450" indent="-171450">
              <a:spcBef>
                <a:spcPts val="200"/>
              </a:spcBef>
              <a:spcAft>
                <a:spcPts val="1000"/>
              </a:spcAft>
              <a:buChar char="•"/>
            </a:pPr>
            <a:r>
              <a:rPr sz="1700" b="0" i="0">
                <a:solidFill>
                  <a:srgbClr val="1F2937"/>
                </a:solidFill>
              </a:rPr>
              <a:t>Perbaiki transparansi data: publikasikan tabel provinsi lengkap dan deret mingguan SKDR dalam format terbuka.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</a:rPr>
              <a:t>Kesimpulan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</a:rPr>
              <a:t>ISPA 2026 bukan sekadar musim batuk-pilek: 14,1 juta laporan nasional,</a:t>
            </a:r>
          </a:p>
          <a:p>
            <a:pPr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</a:rPr>
              <a:t>283 ribu kasus di wilayah karhutla, dan udara 6 kali ambang berbahaya.</a:t>
            </a:r>
          </a:p>
          <a:p>
            <a:pPr>
              <a:spcAft>
                <a:spcPts val="800"/>
              </a:spcAft>
            </a:pPr>
            <a:r>
              <a:rPr sz="2200" b="0" i="0">
                <a:solidFill>
                  <a:srgbClr val="FFFFFF"/>
                </a:solidFill>
              </a:rPr>
              <a:t>Data yang transparan adalah langkah pertama penanganan yang tepat.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FFFFFF"/>
                </a:solidFill>
              </a:rPr>
              <a:t>BAGHIZ ASSHIDDIQIE ARASYA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BFDBFE"/>
                </a:solidFill>
              </a:rPr>
              <a:t>Sumber lengkap: data/SOURCES.md  •  Repo: ispa-indonesia-2026-analysis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1">
                <a:solidFill>
                  <a:srgbClr val="BFDBFE"/>
                </a:solidFill>
              </a:rPr>
              <a:t>Dataset kompilasi dari angka resmi yang dipublikasikan — lihat README untuk batasan dan caveat.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