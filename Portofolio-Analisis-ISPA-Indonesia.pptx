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868680"/>
            <a:ext cx="6400800" cy="2011680"/>
          </a:xfrm>
          <a:prstGeom prst="rect">
            <a:avLst/>
          </a:prstGeom>
          <a:noFill/>
        </p:spPr>
        <p:txBody>
          <a:bodyPr wrap="square" anchor="t" lIns="0" rIns="0" tIns="0" bIns="0">
            <a:spAutoFit/>
          </a:bodyPr>
          <a:lstStyle/>
          <a:p>
            <a:pPr>
              <a:lnSpc>
                <a:spcPct val="105000"/>
              </a:lnSpc>
              <a:spcBef>
                <a:spcPts val="0"/>
              </a:spcBef>
              <a:spcAft>
                <a:spcPts val="0"/>
              </a:spcAft>
            </a:pPr>
            <a:r>
              <a:rPr sz="3800" b="1">
                <a:solidFill>
                  <a:srgbClr val="2A1E33"/>
                </a:solidFill>
                <a:latin typeface="Noto Sans"/>
              </a:rPr>
              <a:t>Analisis ISPA</a:t>
            </a:r>
          </a:p>
          <a:p>
            <a:pPr>
              <a:lnSpc>
                <a:spcPct val="105000"/>
              </a:lnSpc>
              <a:spcBef>
                <a:spcPts val="0"/>
              </a:spcBef>
              <a:spcAft>
                <a:spcPts val="0"/>
              </a:spcAft>
            </a:pPr>
            <a:r>
              <a:rPr sz="3800" b="1">
                <a:solidFill>
                  <a:srgbClr val="5E2A72"/>
                </a:solidFill>
                <a:latin typeface="Noto Sans"/>
              </a:rPr>
              <a:t>Indonesia 2026</a:t>
            </a:r>
          </a:p>
        </p:txBody>
      </p:sp>
      <p:sp>
        <p:nvSpPr>
          <p:cNvPr id="3" name="TextBox 2"/>
          <p:cNvSpPr txBox="1"/>
          <p:nvPr/>
        </p:nvSpPr>
        <p:spPr>
          <a:xfrm>
            <a:off x="502920" y="2606040"/>
            <a:ext cx="5852160" cy="1188720"/>
          </a:xfrm>
          <a:prstGeom prst="rect">
            <a:avLst/>
          </a:prstGeom>
          <a:noFill/>
        </p:spPr>
        <p:txBody>
          <a:bodyPr wrap="square" anchor="t" lIns="0" rIns="0" tIns="0" bIns="0">
            <a:spAutoFit/>
          </a:bodyPr>
          <a:lstStyle/>
          <a:p>
            <a:pPr>
              <a:lnSpc>
                <a:spcPct val="113000"/>
              </a:lnSpc>
              <a:spcBef>
                <a:spcPts val="0"/>
              </a:spcBef>
              <a:spcAft>
                <a:spcPts val="0"/>
              </a:spcAft>
            </a:pPr>
            <a:r>
              <a:rPr sz="1750" b="0">
                <a:solidFill>
                  <a:srgbClr val="2A1E33"/>
                </a:solidFill>
                <a:latin typeface="Noto Sans"/>
              </a:rPr>
              <a:t>Lonjakan kasus, sebaran provinsi, dan dampak karhutla dan kualitas udara.</a:t>
            </a:r>
          </a:p>
        </p:txBody>
      </p:sp>
      <p:sp>
        <p:nvSpPr>
          <p:cNvPr id="4" name="TextBox 3"/>
          <p:cNvSpPr txBox="1"/>
          <p:nvPr/>
        </p:nvSpPr>
        <p:spPr>
          <a:xfrm>
            <a:off x="502920" y="4114800"/>
            <a:ext cx="5943600" cy="914400"/>
          </a:xfrm>
          <a:prstGeom prst="rect">
            <a:avLst/>
          </a:prstGeom>
          <a:noFill/>
        </p:spPr>
        <p:txBody>
          <a:bodyPr wrap="square" anchor="t" lIns="0" rIns="0" tIns="0" bIns="0">
            <a:spAutoFit/>
          </a:bodyPr>
          <a:lstStyle/>
          <a:p>
            <a:pPr>
              <a:lnSpc>
                <a:spcPct val="113000"/>
              </a:lnSpc>
              <a:spcBef>
                <a:spcPts val="0"/>
              </a:spcBef>
              <a:spcAft>
                <a:spcPts val="0"/>
              </a:spcAft>
            </a:pPr>
            <a:r>
              <a:rPr sz="1300" b="0">
                <a:solidFill>
                  <a:srgbClr val="2A1E33"/>
                </a:solidFill>
                <a:latin typeface="Noto Sans"/>
              </a:rPr>
              <a:t>Data kompilasi dari angka resmi Kemenkes, SKDR, dan ISPU: setiap angka dicatat sumber dan tanggal publikasinya.</a:t>
            </a:r>
          </a:p>
        </p:txBody>
      </p:sp>
      <p:sp>
        <p:nvSpPr>
          <p:cNvPr id="5" name="TextBox 4"/>
          <p:cNvSpPr txBox="1"/>
          <p:nvPr/>
        </p:nvSpPr>
        <p:spPr>
          <a:xfrm>
            <a:off x="502920" y="5989320"/>
            <a:ext cx="5943600" cy="457200"/>
          </a:xfrm>
          <a:prstGeom prst="rect">
            <a:avLst/>
          </a:prstGeom>
          <a:noFill/>
        </p:spPr>
        <p:txBody>
          <a:bodyPr wrap="square" anchor="t" lIns="0" rIns="0" tIns="0" bIns="0">
            <a:spAutoFit/>
          </a:bodyPr>
          <a:lstStyle/>
          <a:p>
            <a:pPr>
              <a:lnSpc>
                <a:spcPct val="113000"/>
              </a:lnSpc>
              <a:spcBef>
                <a:spcPts val="0"/>
              </a:spcBef>
              <a:spcAft>
                <a:spcPts val="0"/>
              </a:spcAft>
            </a:pPr>
            <a:r>
              <a:rPr sz="1400" b="1">
                <a:solidFill>
                  <a:srgbClr val="5E2A72"/>
                </a:solidFill>
                <a:latin typeface="Noto Sans"/>
              </a:rPr>
              <a:t>BAGHIZ ASSHIDDIQIE ARASYA</a:t>
            </a:r>
          </a:p>
        </p:txBody>
      </p:sp>
      <p:sp>
        <p:nvSpPr>
          <p:cNvPr id="6" name="Rounded Rectangle 5"/>
          <p:cNvSpPr/>
          <p:nvPr/>
        </p:nvSpPr>
        <p:spPr>
          <a:xfrm>
            <a:off x="6885432" y="850392"/>
            <a:ext cx="4892040" cy="4160520"/>
          </a:xfrm>
          <a:prstGeom prst="roundRect">
            <a:avLst>
              <a:gd name="adj" fmla="val 5500"/>
            </a:avLst>
          </a:prstGeom>
          <a:solidFill>
            <a:srgbClr val="8A5C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12280" y="777240"/>
            <a:ext cx="4892040" cy="4160520"/>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1234440"/>
            <a:ext cx="4023360" cy="3474720"/>
          </a:xfrm>
          <a:prstGeom prst="rect">
            <a:avLst/>
          </a:prstGeom>
          <a:noFill/>
        </p:spPr>
        <p:txBody>
          <a:bodyPr wrap="square" anchor="t" lIns="0" rIns="0" tIns="0" bIns="0">
            <a:spAutoFit/>
          </a:bodyPr>
          <a:lstStyle/>
          <a:p>
            <a:pPr>
              <a:lnSpc>
                <a:spcPct val="113000"/>
              </a:lnSpc>
              <a:spcBef>
                <a:spcPts val="0"/>
              </a:spcBef>
              <a:spcAft>
                <a:spcPts val="600"/>
              </a:spcAft>
            </a:pPr>
            <a:r>
              <a:rPr sz="1250" b="1">
                <a:solidFill>
                  <a:srgbClr val="F8F2E4"/>
                </a:solidFill>
                <a:latin typeface="Noto Sans"/>
              </a:rPr>
              <a:t>TOTAL LAPORAN KASUS NASIONAL (SKDR)</a:t>
            </a:r>
          </a:p>
          <a:p>
            <a:pPr>
              <a:lnSpc>
                <a:spcPct val="113000"/>
              </a:lnSpc>
              <a:spcBef>
                <a:spcPts val="0"/>
              </a:spcBef>
              <a:spcAft>
                <a:spcPts val="400"/>
              </a:spcAft>
            </a:pPr>
            <a:r>
              <a:rPr sz="5000" b="1">
                <a:solidFill>
                  <a:srgbClr val="EF7D1A"/>
                </a:solidFill>
                <a:latin typeface="Noto Sans"/>
              </a:rPr>
              <a:t>14.088.945</a:t>
            </a:r>
          </a:p>
          <a:p>
            <a:pPr>
              <a:lnSpc>
                <a:spcPct val="113000"/>
              </a:lnSpc>
              <a:spcBef>
                <a:spcPts val="0"/>
              </a:spcBef>
              <a:spcAft>
                <a:spcPts val="800"/>
              </a:spcAft>
            </a:pPr>
            <a:r>
              <a:rPr sz="1900" b="1">
                <a:solidFill>
                  <a:srgbClr val="FFFFFF"/>
                </a:solidFill>
                <a:latin typeface="Noto Sans"/>
              </a:rPr>
              <a:t>laporan s.d. minggu ke-38 tahun 2026</a:t>
            </a:r>
          </a:p>
          <a:p>
            <a:pPr>
              <a:lnSpc>
                <a:spcPct val="113000"/>
              </a:lnSpc>
              <a:spcBef>
                <a:spcPts val="0"/>
              </a:spcBef>
              <a:spcAft>
                <a:spcPts val="0"/>
              </a:spcAft>
            </a:pPr>
            <a:r>
              <a:rPr sz="1350" b="0">
                <a:solidFill>
                  <a:srgbClr val="F8F2E4"/>
                </a:solidFill>
                <a:latin typeface="Noto Sans"/>
              </a:rPr>
              <a:t>Laporan mingguan menembus 400 ribu sejak minggu ke-27, naik ke puncak kemarau sekitar 420 ribu per minggu.</a:t>
            </a:r>
          </a:p>
        </p:txBody>
      </p:sp>
      <p:sp>
        <p:nvSpPr>
          <p:cNvPr id="9" name="Rounded Rectangle 8"/>
          <p:cNvSpPr/>
          <p:nvPr/>
        </p:nvSpPr>
        <p:spPr>
          <a:xfrm>
            <a:off x="6812280" y="5230368"/>
            <a:ext cx="4892040" cy="713232"/>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5358384"/>
            <a:ext cx="4434840" cy="502920"/>
          </a:xfrm>
          <a:prstGeom prst="rect">
            <a:avLst/>
          </a:prstGeom>
          <a:noFill/>
        </p:spPr>
        <p:txBody>
          <a:bodyPr wrap="square" anchor="t" lIns="0" rIns="0" tIns="0" bIns="0">
            <a:spAutoFit/>
          </a:bodyPr>
          <a:lstStyle/>
          <a:p>
            <a:pPr>
              <a:lnSpc>
                <a:spcPct val="113000"/>
              </a:lnSpc>
              <a:spcBef>
                <a:spcPts val="0"/>
              </a:spcBef>
              <a:spcAft>
                <a:spcPts val="0"/>
              </a:spcAft>
            </a:pPr>
            <a:r>
              <a:rPr sz="1250" b="1">
                <a:solidFill>
                  <a:srgbClr val="FFFFFF"/>
                </a:solidFill>
                <a:latin typeface="Noto Sans"/>
              </a:rPr>
              <a:t>Plus paket dashboard Power BI: star schema, DAX, panduan rakit.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Mengapa ISPA 2026 Mendesak?</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81328"/>
            <a:ext cx="6903720" cy="4206240"/>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417320"/>
            <a:ext cx="6903720" cy="420624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6217920" cy="3566160"/>
          </a:xfrm>
          <a:prstGeom prst="rect">
            <a:avLst/>
          </a:prstGeom>
          <a:noFill/>
        </p:spPr>
        <p:txBody>
          <a:bodyPr wrap="square" anchor="t" lIns="0" rIns="0" tIns="0" bIns="0">
            <a:spAutoFit/>
          </a:bodyPr>
          <a:lstStyle/>
          <a:p>
            <a:pPr>
              <a:lnSpc>
                <a:spcPct val="113000"/>
              </a:lnSpc>
              <a:spcBef>
                <a:spcPts val="0"/>
              </a:spcBef>
              <a:spcAft>
                <a:spcPts val="1000"/>
              </a:spcAft>
            </a:pPr>
            <a:r>
              <a:rPr sz="1550" b="0">
                <a:solidFill>
                  <a:srgbClr val="2A1E33"/>
                </a:solidFill>
                <a:latin typeface="Noto Sans"/>
              </a:rPr>
              <a:t>ISPA adalah infeksi saluran pernapasan akut: batuk, pilek, sesak napas. Penyakit yang terdengar ringan, tetapi skalanya di 2026 luar biasa besar.</a:t>
            </a:r>
          </a:p>
          <a:p>
            <a:pPr>
              <a:lnSpc>
                <a:spcPct val="113000"/>
              </a:lnSpc>
              <a:spcBef>
                <a:spcPts val="0"/>
              </a:spcBef>
              <a:spcAft>
                <a:spcPts val="1000"/>
              </a:spcAft>
            </a:pPr>
            <a:r>
              <a:rPr sz="1550" b="0">
                <a:solidFill>
                  <a:srgbClr val="2A1E33"/>
                </a:solidFill>
                <a:latin typeface="Noto Sans"/>
              </a:rPr>
              <a:t>Laporan nasional menembus 14.088.945 laporan (SKDR, s.d. minggu ke-38), dengan laporan mingguan di atas 400 ribu sejak minggu ke-27 dan puncak sekitar 420 ribu pada musim kemarau.</a:t>
            </a:r>
          </a:p>
          <a:p>
            <a:pPr>
              <a:lnSpc>
                <a:spcPct val="113000"/>
              </a:lnSpc>
              <a:spcBef>
                <a:spcPts val="0"/>
              </a:spcBef>
              <a:spcAft>
                <a:spcPts val="1000"/>
              </a:spcAft>
            </a:pPr>
            <a:r>
              <a:rPr sz="1550" b="0">
                <a:solidFill>
                  <a:srgbClr val="2A1E33"/>
                </a:solidFill>
                <a:latin typeface="Noto Sans"/>
              </a:rPr>
              <a:t>Di saat yang sama, kebakaran hutan dan lahan (karhutla) memburuk dan kualitas udara banyak wilayah jatuh ke kategori berbahaya. Analisis ini memetakan tiga hal: seberapa besar kasusnya, di mana konsentrasinya, dan siapa yang paling terdampak.</a:t>
            </a:r>
          </a:p>
        </p:txBody>
      </p:sp>
      <p:sp>
        <p:nvSpPr>
          <p:cNvPr id="7" name="Rounded Rectangle 6"/>
          <p:cNvSpPr/>
          <p:nvPr/>
        </p:nvSpPr>
        <p:spPr>
          <a:xfrm>
            <a:off x="7726679" y="1417320"/>
            <a:ext cx="3959352" cy="1207008"/>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581912"/>
            <a:ext cx="3383280" cy="1024128"/>
          </a:xfrm>
          <a:prstGeom prst="rect">
            <a:avLst/>
          </a:prstGeom>
          <a:noFill/>
        </p:spPr>
        <p:txBody>
          <a:bodyPr wrap="square" anchor="t" lIns="0" rIns="0" tIns="0" bIns="0">
            <a:spAutoFit/>
          </a:bodyPr>
          <a:lstStyle/>
          <a:p>
            <a:pPr>
              <a:lnSpc>
                <a:spcPct val="113000"/>
              </a:lnSpc>
              <a:spcBef>
                <a:spcPts val="0"/>
              </a:spcBef>
              <a:spcAft>
                <a:spcPts val="200"/>
              </a:spcAft>
            </a:pPr>
            <a:r>
              <a:rPr sz="3200" b="1">
                <a:solidFill>
                  <a:srgbClr val="EF7D1A"/>
                </a:solidFill>
                <a:latin typeface="Noto Sans"/>
              </a:rPr>
              <a:t>14.088.945</a:t>
            </a:r>
          </a:p>
          <a:p>
            <a:pPr>
              <a:lnSpc>
                <a:spcPct val="113000"/>
              </a:lnSpc>
              <a:spcBef>
                <a:spcPts val="0"/>
              </a:spcBef>
              <a:spcAft>
                <a:spcPts val="0"/>
              </a:spcAft>
            </a:pPr>
            <a:r>
              <a:rPr sz="1250" b="0">
                <a:solidFill>
                  <a:srgbClr val="2A1E33"/>
                </a:solidFill>
                <a:latin typeface="Noto Sans"/>
              </a:rPr>
              <a:t>laporan nasional SKDR s.d. minggu ke-38</a:t>
            </a:r>
          </a:p>
        </p:txBody>
      </p:sp>
      <p:sp>
        <p:nvSpPr>
          <p:cNvPr id="9" name="Rounded Rectangle 8"/>
          <p:cNvSpPr/>
          <p:nvPr/>
        </p:nvSpPr>
        <p:spPr>
          <a:xfrm>
            <a:off x="7726679" y="2770632"/>
            <a:ext cx="3959352" cy="1207008"/>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935224"/>
            <a:ext cx="3383280" cy="1024128"/>
          </a:xfrm>
          <a:prstGeom prst="rect">
            <a:avLst/>
          </a:prstGeom>
          <a:noFill/>
        </p:spPr>
        <p:txBody>
          <a:bodyPr wrap="square" anchor="t" lIns="0" rIns="0" tIns="0" bIns="0">
            <a:spAutoFit/>
          </a:bodyPr>
          <a:lstStyle/>
          <a:p>
            <a:pPr>
              <a:lnSpc>
                <a:spcPct val="113000"/>
              </a:lnSpc>
              <a:spcBef>
                <a:spcPts val="0"/>
              </a:spcBef>
              <a:spcAft>
                <a:spcPts val="200"/>
              </a:spcAft>
            </a:pPr>
            <a:r>
              <a:rPr sz="3200" b="1">
                <a:solidFill>
                  <a:srgbClr val="EF7D1A"/>
                </a:solidFill>
                <a:latin typeface="Noto Sans"/>
              </a:rPr>
              <a:t>420 ribu</a:t>
            </a:r>
          </a:p>
          <a:p>
            <a:pPr>
              <a:lnSpc>
                <a:spcPct val="113000"/>
              </a:lnSpc>
              <a:spcBef>
                <a:spcPts val="0"/>
              </a:spcBef>
              <a:spcAft>
                <a:spcPts val="0"/>
              </a:spcAft>
            </a:pPr>
            <a:r>
              <a:rPr sz="1250" b="0">
                <a:solidFill>
                  <a:srgbClr val="2A1E33"/>
                </a:solidFill>
                <a:latin typeface="Noto Sans"/>
              </a:rPr>
              <a:t>laporan per minggu pada puncak kemarau</a:t>
            </a:r>
          </a:p>
        </p:txBody>
      </p:sp>
      <p:sp>
        <p:nvSpPr>
          <p:cNvPr id="11" name="Rounded Rectangle 10"/>
          <p:cNvSpPr/>
          <p:nvPr/>
        </p:nvSpPr>
        <p:spPr>
          <a:xfrm>
            <a:off x="7726679" y="4123944"/>
            <a:ext cx="3959352" cy="1499616"/>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4288536"/>
            <a:ext cx="3383280" cy="1316736"/>
          </a:xfrm>
          <a:prstGeom prst="rect">
            <a:avLst/>
          </a:prstGeom>
          <a:noFill/>
        </p:spPr>
        <p:txBody>
          <a:bodyPr wrap="square" anchor="t" lIns="0" rIns="0" tIns="0" bIns="0">
            <a:spAutoFit/>
          </a:bodyPr>
          <a:lstStyle/>
          <a:p>
            <a:pPr>
              <a:lnSpc>
                <a:spcPct val="113000"/>
              </a:lnSpc>
              <a:spcBef>
                <a:spcPts val="0"/>
              </a:spcBef>
              <a:spcAft>
                <a:spcPts val="200"/>
              </a:spcAft>
            </a:pPr>
            <a:r>
              <a:rPr sz="3200" b="1">
                <a:solidFill>
                  <a:srgbClr val="EF7D1A"/>
                </a:solidFill>
                <a:latin typeface="Noto Sans"/>
              </a:rPr>
              <a:t>283.270</a:t>
            </a:r>
          </a:p>
          <a:p>
            <a:pPr>
              <a:lnSpc>
                <a:spcPct val="113000"/>
              </a:lnSpc>
              <a:spcBef>
                <a:spcPts val="0"/>
              </a:spcBef>
              <a:spcAft>
                <a:spcPts val="0"/>
              </a:spcAft>
            </a:pPr>
            <a:r>
              <a:rPr sz="1250" b="0">
                <a:solidFill>
                  <a:srgbClr val="F8F2E4"/>
                </a:solidFill>
                <a:latin typeface="Noto Sans"/>
              </a:rPr>
              <a:t>kasus pada seri pemantauan karhutla, seri terpisah dari SKDR</a:t>
            </a:r>
          </a:p>
        </p:txBody>
      </p:sp>
      <p:sp>
        <p:nvSpPr>
          <p:cNvPr id="13" name="TextBox 12"/>
          <p:cNvSpPr txBox="1"/>
          <p:nvPr/>
        </p:nvSpPr>
        <p:spPr>
          <a:xfrm>
            <a:off x="502920" y="6355080"/>
            <a:ext cx="11155680" cy="365760"/>
          </a:xfrm>
          <a:prstGeom prst="rect">
            <a:avLst/>
          </a:prstGeom>
          <a:noFill/>
        </p:spPr>
        <p:txBody>
          <a:bodyPr wrap="square" anchor="t" lIns="0" rIns="0" tIns="0" bIns="0">
            <a:spAutoFit/>
          </a:bodyPr>
          <a:lstStyle/>
          <a:p>
            <a:pPr>
              <a:lnSpc>
                <a:spcPct val="113000"/>
              </a:lnSpc>
              <a:spcBef>
                <a:spcPts val="0"/>
              </a:spcBef>
              <a:spcAft>
                <a:spcPts val="0"/>
              </a:spcAft>
            </a:pPr>
            <a:r>
              <a:rPr sz="1100" b="0">
                <a:solidFill>
                  <a:srgbClr val="8A5CA6"/>
                </a:solidFill>
                <a:latin typeface="Noto Sans"/>
              </a:rPr>
              <a:t>Sumber data: Kemenkes, SKDR, ISPU, Dinkes DKI, dan BPS. Rincian sumber per angka ada di data/SOURCES.md pada repo.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Data dan Metode</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417320"/>
            <a:ext cx="3291840" cy="2011680"/>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64208"/>
            <a:ext cx="2697480" cy="1737360"/>
          </a:xfrm>
          <a:prstGeom prst="rect">
            <a:avLst/>
          </a:prstGeom>
          <a:noFill/>
        </p:spPr>
        <p:txBody>
          <a:bodyPr wrap="square" anchor="t" lIns="0" rIns="0" tIns="0" bIns="0">
            <a:spAutoFit/>
          </a:bodyPr>
          <a:lstStyle/>
          <a:p>
            <a:pPr>
              <a:lnSpc>
                <a:spcPct val="113000"/>
              </a:lnSpc>
              <a:spcBef>
                <a:spcPts val="0"/>
              </a:spcBef>
              <a:spcAft>
                <a:spcPts val="300"/>
              </a:spcAft>
            </a:pPr>
            <a:r>
              <a:rPr sz="2800" b="1">
                <a:solidFill>
                  <a:srgbClr val="EF7D1A"/>
                </a:solidFill>
                <a:latin typeface="Noto Sans"/>
              </a:rPr>
              <a:t>14.088.945</a:t>
            </a:r>
          </a:p>
          <a:p>
            <a:pPr>
              <a:lnSpc>
                <a:spcPct val="113000"/>
              </a:lnSpc>
              <a:spcBef>
                <a:spcPts val="0"/>
              </a:spcBef>
              <a:spcAft>
                <a:spcPts val="0"/>
              </a:spcAft>
            </a:pPr>
            <a:r>
              <a:rPr sz="1250" b="0">
                <a:solidFill>
                  <a:srgbClr val="F8F2E4"/>
                </a:solidFill>
                <a:latin typeface="Noto Sans"/>
              </a:rPr>
              <a:t>total laporan nasional SKDR, seri utama analisis ini</a:t>
            </a:r>
          </a:p>
        </p:txBody>
      </p:sp>
      <p:sp>
        <p:nvSpPr>
          <p:cNvPr id="6" name="Rounded Rectangle 5"/>
          <p:cNvSpPr/>
          <p:nvPr/>
        </p:nvSpPr>
        <p:spPr>
          <a:xfrm>
            <a:off x="502920" y="3611880"/>
            <a:ext cx="3291840" cy="201168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858768"/>
            <a:ext cx="2697480" cy="1737360"/>
          </a:xfrm>
          <a:prstGeom prst="rect">
            <a:avLst/>
          </a:prstGeom>
          <a:noFill/>
        </p:spPr>
        <p:txBody>
          <a:bodyPr wrap="square" anchor="t" lIns="0" rIns="0" tIns="0" bIns="0">
            <a:spAutoFit/>
          </a:bodyPr>
          <a:lstStyle/>
          <a:p>
            <a:pPr>
              <a:lnSpc>
                <a:spcPct val="113000"/>
              </a:lnSpc>
              <a:spcBef>
                <a:spcPts val="0"/>
              </a:spcBef>
              <a:spcAft>
                <a:spcPts val="300"/>
              </a:spcAft>
            </a:pPr>
            <a:r>
              <a:rPr sz="2800" b="1">
                <a:solidFill>
                  <a:srgbClr val="EF7D1A"/>
                </a:solidFill>
                <a:latin typeface="Noto Sans"/>
              </a:rPr>
              <a:t>283.270</a:t>
            </a:r>
          </a:p>
          <a:p>
            <a:pPr>
              <a:lnSpc>
                <a:spcPct val="113000"/>
              </a:lnSpc>
              <a:spcBef>
                <a:spcPts val="0"/>
              </a:spcBef>
              <a:spcAft>
                <a:spcPts val="0"/>
              </a:spcAft>
            </a:pPr>
            <a:r>
              <a:rPr sz="1250" b="0">
                <a:solidFill>
                  <a:srgbClr val="2A1E33"/>
                </a:solidFill>
                <a:latin typeface="Noto Sans"/>
              </a:rPr>
              <a:t>kasus seri karhutla, disimpan dan dianalisis terpisah</a:t>
            </a:r>
          </a:p>
        </p:txBody>
      </p:sp>
      <p:sp>
        <p:nvSpPr>
          <p:cNvPr id="8" name="Rounded Rectangle 7"/>
          <p:cNvSpPr/>
          <p:nvPr/>
        </p:nvSpPr>
        <p:spPr>
          <a:xfrm>
            <a:off x="4178808" y="1481328"/>
            <a:ext cx="7571231" cy="4206240"/>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0" y="1417320"/>
            <a:ext cx="7571231" cy="420624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755648"/>
            <a:ext cx="6858000" cy="3611880"/>
          </a:xfrm>
          <a:prstGeom prst="rect">
            <a:avLst/>
          </a:prstGeom>
          <a:noFill/>
        </p:spPr>
        <p:txBody>
          <a:bodyPr wrap="square" anchor="t" lIns="0" rIns="0" tIns="0" bIns="0">
            <a:spAutoFit/>
          </a:bodyPr>
          <a:lstStyle/>
          <a:p>
            <a:pPr>
              <a:lnSpc>
                <a:spcPct val="113000"/>
              </a:lnSpc>
              <a:spcBef>
                <a:spcPts val="0"/>
              </a:spcBef>
              <a:spcAft>
                <a:spcPts val="1000"/>
              </a:spcAft>
            </a:pPr>
            <a:r>
              <a:rPr sz="1500" b="0">
                <a:solidFill>
                  <a:srgbClr val="2A1E33"/>
                </a:solidFill>
                <a:latin typeface="Noto Sans"/>
              </a:rPr>
              <a:t>Dataset ini adalah KOMPILASI dari angka resmi yang dipublikasikan (Kemenkes, SKDR, ISPU, Dinkes DKI, BPS). Tidak ada file CSV mentah ISPA di data.go.id atau Jakarta Open Data, jadi setiap angka dicatat sumber dan tanggal publikasinya.</a:t>
            </a:r>
          </a:p>
          <a:p>
            <a:pPr>
              <a:lnSpc>
                <a:spcPct val="113000"/>
              </a:lnSpc>
              <a:spcBef>
                <a:spcPts val="0"/>
              </a:spcBef>
              <a:spcAft>
                <a:spcPts val="1000"/>
              </a:spcAft>
            </a:pPr>
            <a:r>
              <a:rPr sz="1500" b="0">
                <a:solidFill>
                  <a:srgbClr val="2A1E33"/>
                </a:solidFill>
                <a:latin typeface="Noto Sans"/>
              </a:rPr>
              <a:t>Dua seri dipisah ketat: seri nasional SKDR dan seri pemantauan karhutla. Cakupan dan periode keduanya berbeda, jadi keduanya tidak pernah dijumlahkan.</a:t>
            </a:r>
          </a:p>
          <a:p>
            <a:pPr>
              <a:lnSpc>
                <a:spcPct val="113000"/>
              </a:lnSpc>
              <a:spcBef>
                <a:spcPts val="0"/>
              </a:spcBef>
              <a:spcAft>
                <a:spcPts val="1000"/>
              </a:spcAft>
            </a:pPr>
            <a:r>
              <a:rPr sz="1500" b="0">
                <a:solidFill>
                  <a:srgbClr val="2A1E33"/>
                </a:solidFill>
                <a:latin typeface="Noto Sans"/>
              </a:rPr>
              <a:t>Angka per kapita memakai populasi BPS 2026 satu vintage agar antarprovinsi dapat dibandingkan dengan adil.</a:t>
            </a:r>
          </a:p>
          <a:p>
            <a:pPr>
              <a:lnSpc>
                <a:spcPct val="113000"/>
              </a:lnSpc>
              <a:spcBef>
                <a:spcPts val="0"/>
              </a:spcBef>
              <a:spcAft>
                <a:spcPts val="1000"/>
              </a:spcAft>
            </a:pPr>
            <a:r>
              <a:rPr sz="1500" b="0">
                <a:solidFill>
                  <a:srgbClr val="2A1E33"/>
                </a:solidFill>
                <a:latin typeface="Noto Sans"/>
              </a:rPr>
              <a:t>Grain seri mingguan adalah periode laporan, mengikuti rentang minggu yang dipublikasikan sumber, bukan minggu individu.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Temuan 1: Kasus Sangat Terkonsentrasi</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0"/>
            <a:ext cx="4526280" cy="3291840"/>
          </a:xfrm>
          <a:prstGeom prst="rect">
            <a:avLst/>
          </a:prstGeom>
          <a:noFill/>
        </p:spPr>
        <p:txBody>
          <a:bodyPr wrap="square" anchor="t" lIns="0" rIns="0" tIns="0" bIns="0">
            <a:spAutoFit/>
          </a:bodyPr>
          <a:lstStyle/>
          <a:p>
            <a:pPr>
              <a:lnSpc>
                <a:spcPct val="113000"/>
              </a:lnSpc>
              <a:spcBef>
                <a:spcPts val="0"/>
              </a:spcBef>
              <a:spcAft>
                <a:spcPts val="1000"/>
              </a:spcAft>
            </a:pPr>
            <a:r>
              <a:rPr sz="1550" b="0">
                <a:solidFill>
                  <a:srgbClr val="2A1E33"/>
                </a:solidFill>
                <a:latin typeface="Noto Sans"/>
              </a:rPr>
              <a:t>10 provinsi teratas mencatat 10.530.385 laporan, setara 74,7% dari total nasional.</a:t>
            </a:r>
          </a:p>
          <a:p>
            <a:pPr>
              <a:lnSpc>
                <a:spcPct val="113000"/>
              </a:lnSpc>
              <a:spcBef>
                <a:spcPts val="0"/>
              </a:spcBef>
              <a:spcAft>
                <a:spcPts val="1000"/>
              </a:spcAft>
            </a:pPr>
            <a:r>
              <a:rPr sz="1550" b="0">
                <a:solidFill>
                  <a:srgbClr val="2A1E33"/>
                </a:solidFill>
                <a:latin typeface="Noto Sans"/>
              </a:rPr>
              <a:t>Empat provinsi teratas saja (Jawa Barat, Jawa Tengah, Jakarta, Jawa Timur) menyumbang 55,8% nasional. Jawa Barat tertinggi: 2.533.888 laporan (17,98%).</a:t>
            </a:r>
          </a:p>
          <a:p>
            <a:pPr>
              <a:lnSpc>
                <a:spcPct val="113000"/>
              </a:lnSpc>
              <a:spcBef>
                <a:spcPts val="0"/>
              </a:spcBef>
              <a:spcAft>
                <a:spcPts val="1000"/>
              </a:spcAft>
            </a:pPr>
            <a:r>
              <a:rPr sz="1550" b="0">
                <a:solidFill>
                  <a:srgbClr val="2A1E33"/>
                </a:solidFill>
                <a:latin typeface="Noto Sans"/>
              </a:rPr>
              <a:t>Sebanyak 86,3% laporan top-10 berasal dari Pulau Jawa. Catatan: dominasi Jawa ikut dipengaruhi jumlah penduduk dan kelengkapan pelaporan.</a:t>
            </a:r>
          </a:p>
        </p:txBody>
      </p:sp>
      <p:sp>
        <p:nvSpPr>
          <p:cNvPr id="5" name="Rounded Rectangle 4"/>
          <p:cNvSpPr/>
          <p:nvPr/>
        </p:nvSpPr>
        <p:spPr>
          <a:xfrm>
            <a:off x="502920" y="4846320"/>
            <a:ext cx="4526280" cy="1170432"/>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010912"/>
            <a:ext cx="4023360" cy="896112"/>
          </a:xfrm>
          <a:prstGeom prst="rect">
            <a:avLst/>
          </a:prstGeom>
          <a:noFill/>
        </p:spPr>
        <p:txBody>
          <a:bodyPr wrap="square" anchor="t" lIns="0" rIns="0" tIns="0" bIns="0">
            <a:spAutoFit/>
          </a:bodyPr>
          <a:lstStyle/>
          <a:p>
            <a:pPr>
              <a:lnSpc>
                <a:spcPct val="113000"/>
              </a:lnSpc>
              <a:spcBef>
                <a:spcPts val="0"/>
              </a:spcBef>
              <a:spcAft>
                <a:spcPts val="200"/>
              </a:spcAft>
            </a:pPr>
            <a:r>
              <a:rPr sz="2700" b="1">
                <a:solidFill>
                  <a:srgbClr val="EF7D1A"/>
                </a:solidFill>
                <a:latin typeface="Noto Sans"/>
              </a:rPr>
              <a:t>74,7%</a:t>
            </a:r>
          </a:p>
          <a:p>
            <a:pPr>
              <a:lnSpc>
                <a:spcPct val="113000"/>
              </a:lnSpc>
              <a:spcBef>
                <a:spcPts val="0"/>
              </a:spcBef>
              <a:spcAft>
                <a:spcPts val="0"/>
              </a:spcAft>
            </a:pPr>
            <a:r>
              <a:rPr sz="1250" b="0">
                <a:solidFill>
                  <a:srgbClr val="F8F2E4"/>
                </a:solidFill>
                <a:latin typeface="Noto Sans"/>
              </a:rPr>
              <a:t>dari seluruh laporan nasional terkumpul di 10 provinsi saja</a:t>
            </a:r>
          </a:p>
        </p:txBody>
      </p:sp>
      <p:sp>
        <p:nvSpPr>
          <p:cNvPr id="7" name="Rounded Rectangle 6"/>
          <p:cNvSpPr/>
          <p:nvPr/>
        </p:nvSpPr>
        <p:spPr>
          <a:xfrm>
            <a:off x="5413248" y="1481328"/>
            <a:ext cx="6336792" cy="3977639"/>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49240" y="1417320"/>
            <a:ext cx="6336792" cy="3977639"/>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1_top10_absolut.png"/>
          <p:cNvPicPr>
            <a:picLocks noChangeAspect="1"/>
          </p:cNvPicPr>
          <p:nvPr/>
        </p:nvPicPr>
        <p:blipFill>
          <a:blip r:embed="rId2"/>
          <a:stretch>
            <a:fillRect/>
          </a:stretch>
        </p:blipFill>
        <p:spPr>
          <a:xfrm>
            <a:off x="5592387" y="1618488"/>
            <a:ext cx="5850497" cy="3575303"/>
          </a:xfrm>
          <a:prstGeom prst="rect">
            <a:avLst/>
          </a:prstGeom>
        </p:spPr>
      </p:pic>
      <p:sp>
        <p:nvSpPr>
          <p:cNvPr id="10" name="TextBox 9"/>
          <p:cNvSpPr txBox="1"/>
          <p:nvPr/>
        </p:nvSpPr>
        <p:spPr>
          <a:xfrm>
            <a:off x="5349240" y="5486399"/>
            <a:ext cx="6336792" cy="274320"/>
          </a:xfrm>
          <a:prstGeom prst="rect">
            <a:avLst/>
          </a:prstGeom>
          <a:noFill/>
        </p:spPr>
        <p:txBody>
          <a:bodyPr wrap="square" anchor="t" lIns="0" rIns="0" tIns="0" bIns="0">
            <a:spAutoFit/>
          </a:bodyPr>
          <a:lstStyle/>
          <a:p>
            <a:pPr>
              <a:lnSpc>
                <a:spcPct val="113000"/>
              </a:lnSpc>
              <a:spcBef>
                <a:spcPts val="0"/>
              </a:spcBef>
              <a:spcAft>
                <a:spcPts val="0"/>
              </a:spcAft>
            </a:pPr>
            <a:r>
              <a:rPr sz="1050" b="0">
                <a:solidFill>
                  <a:srgbClr val="8A5CA6"/>
                </a:solidFill>
                <a:latin typeface="Noto Sans"/>
              </a:rPr>
              <a:t>Chart: 10 provinsi dengan kasus ISPA terbanyak, SKDR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Temuan 2: Per Kapita, Jakarta Beban Terberat</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81328"/>
            <a:ext cx="5120640" cy="3520440"/>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417320"/>
            <a:ext cx="5120640" cy="352044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_per_kapita.png"/>
          <p:cNvPicPr>
            <a:picLocks noChangeAspect="1"/>
          </p:cNvPicPr>
          <p:nvPr/>
        </p:nvPicPr>
        <p:blipFill>
          <a:blip r:embed="rId2"/>
          <a:stretch>
            <a:fillRect/>
          </a:stretch>
        </p:blipFill>
        <p:spPr>
          <a:xfrm>
            <a:off x="704088" y="1866900"/>
            <a:ext cx="4718303" cy="2621279"/>
          </a:xfrm>
          <a:prstGeom prst="rect">
            <a:avLst/>
          </a:prstGeom>
        </p:spPr>
      </p:pic>
      <p:sp>
        <p:nvSpPr>
          <p:cNvPr id="7" name="TextBox 6"/>
          <p:cNvSpPr txBox="1"/>
          <p:nvPr/>
        </p:nvSpPr>
        <p:spPr>
          <a:xfrm>
            <a:off x="502920" y="5029200"/>
            <a:ext cx="5120640" cy="274320"/>
          </a:xfrm>
          <a:prstGeom prst="rect">
            <a:avLst/>
          </a:prstGeom>
          <a:noFill/>
        </p:spPr>
        <p:txBody>
          <a:bodyPr wrap="square" anchor="t" lIns="0" rIns="0" tIns="0" bIns="0">
            <a:spAutoFit/>
          </a:bodyPr>
          <a:lstStyle/>
          <a:p>
            <a:pPr>
              <a:lnSpc>
                <a:spcPct val="113000"/>
              </a:lnSpc>
              <a:spcBef>
                <a:spcPts val="0"/>
              </a:spcBef>
              <a:spcAft>
                <a:spcPts val="0"/>
              </a:spcAft>
            </a:pPr>
            <a:r>
              <a:rPr sz="1050" b="0">
                <a:solidFill>
                  <a:srgbClr val="8A5CA6"/>
                </a:solidFill>
                <a:latin typeface="Noto Sans"/>
              </a:rPr>
              <a:t>Chart: kasus per 1.000 penduduk (populasi BPS 2026).</a:t>
            </a:r>
          </a:p>
        </p:txBody>
      </p:sp>
      <p:sp>
        <p:nvSpPr>
          <p:cNvPr id="8" name="TextBox 7"/>
          <p:cNvSpPr txBox="1"/>
          <p:nvPr/>
        </p:nvSpPr>
        <p:spPr>
          <a:xfrm>
            <a:off x="5989320" y="1481328"/>
            <a:ext cx="5715000" cy="3474720"/>
          </a:xfrm>
          <a:prstGeom prst="rect">
            <a:avLst/>
          </a:prstGeom>
          <a:noFill/>
        </p:spPr>
        <p:txBody>
          <a:bodyPr wrap="square" anchor="t" lIns="0" rIns="0" tIns="0" bIns="0">
            <a:spAutoFit/>
          </a:bodyPr>
          <a:lstStyle/>
          <a:p>
            <a:pPr>
              <a:lnSpc>
                <a:spcPct val="113000"/>
              </a:lnSpc>
              <a:spcBef>
                <a:spcPts val="0"/>
              </a:spcBef>
              <a:spcAft>
                <a:spcPts val="1000"/>
              </a:spcAft>
            </a:pPr>
            <a:r>
              <a:rPr sz="1550" b="0">
                <a:solidFill>
                  <a:srgbClr val="2A1E33"/>
                </a:solidFill>
                <a:latin typeface="Noto Sans"/>
              </a:rPr>
              <a:t>Angka absolut menipu: provinsi besar otomatis mencatat kasus lebih banyak. Setelah dibagi populasi, Jakarta mencatat 150,0 kasus per 1.000 penduduk.</a:t>
            </a:r>
          </a:p>
          <a:p>
            <a:pPr>
              <a:lnSpc>
                <a:spcPct val="113000"/>
              </a:lnSpc>
              <a:spcBef>
                <a:spcPts val="0"/>
              </a:spcBef>
              <a:spcAft>
                <a:spcPts val="1000"/>
              </a:spcAft>
            </a:pPr>
            <a:r>
              <a:rPr sz="1550" b="0">
                <a:solidFill>
                  <a:srgbClr val="2A1E33"/>
                </a:solidFill>
                <a:latin typeface="Noto Sans"/>
              </a:rPr>
              <a:t>Itu sekitar 3 kali Jawa Barat (49,5) dan 2,3 kali Banten (65,8). Jakarta mencatat kasus 1,16 kali Jawa Timur dengan penduduk hanya seperempatnya.</a:t>
            </a:r>
          </a:p>
          <a:p>
            <a:pPr>
              <a:lnSpc>
                <a:spcPct val="113000"/>
              </a:lnSpc>
              <a:spcBef>
                <a:spcPts val="0"/>
              </a:spcBef>
              <a:spcAft>
                <a:spcPts val="1000"/>
              </a:spcAft>
            </a:pPr>
            <a:r>
              <a:rPr sz="1550" b="0">
                <a:solidFill>
                  <a:srgbClr val="2A1E33"/>
                </a:solidFill>
                <a:latin typeface="Noto Sans"/>
              </a:rPr>
              <a:t>Implikasi: surveilans dan kesiapan layanan Jakarta perlu dibaca per kapita, bukan dari angka absolut saja.</a:t>
            </a:r>
          </a:p>
        </p:txBody>
      </p:sp>
      <p:sp>
        <p:nvSpPr>
          <p:cNvPr id="9" name="Rounded Rectangle 8"/>
          <p:cNvSpPr/>
          <p:nvPr/>
        </p:nvSpPr>
        <p:spPr>
          <a:xfrm>
            <a:off x="502920" y="5193792"/>
            <a:ext cx="11183112" cy="932688"/>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5394960"/>
            <a:ext cx="10424160" cy="548640"/>
          </a:xfrm>
          <a:prstGeom prst="rect">
            <a:avLst/>
          </a:prstGeom>
          <a:noFill/>
        </p:spPr>
        <p:txBody>
          <a:bodyPr wrap="square" anchor="ctr" lIns="0" rIns="0" tIns="0" bIns="0">
            <a:spAutoFit/>
          </a:bodyPr>
          <a:lstStyle/>
          <a:p>
            <a:pPr>
              <a:lnSpc>
                <a:spcPct val="113000"/>
              </a:lnSpc>
              <a:spcBef>
                <a:spcPts val="0"/>
              </a:spcBef>
              <a:spcAft>
                <a:spcPts val="0"/>
              </a:spcAft>
            </a:pPr>
            <a:r>
              <a:rPr sz="1600" b="1">
                <a:solidFill>
                  <a:srgbClr val="5E2A72"/>
                </a:solidFill>
                <a:latin typeface="Noto Sans"/>
              </a:rPr>
              <a:t>Jakarta: 150,0 kasus per 1.000 penduduk, tertinggi di Indonesia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Temuan 3: 283.270 Kasus ISPA Karhutla</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417320"/>
            <a:ext cx="4572000" cy="1783080"/>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3977639" cy="1463040"/>
          </a:xfrm>
          <a:prstGeom prst="rect">
            <a:avLst/>
          </a:prstGeom>
          <a:noFill/>
        </p:spPr>
        <p:txBody>
          <a:bodyPr wrap="square" anchor="t" lIns="0" rIns="0" tIns="0" bIns="0">
            <a:spAutoFit/>
          </a:bodyPr>
          <a:lstStyle/>
          <a:p>
            <a:pPr>
              <a:lnSpc>
                <a:spcPct val="113000"/>
              </a:lnSpc>
              <a:spcBef>
                <a:spcPts val="0"/>
              </a:spcBef>
              <a:spcAft>
                <a:spcPts val="200"/>
              </a:spcAft>
            </a:pPr>
            <a:r>
              <a:rPr sz="4400" b="1">
                <a:solidFill>
                  <a:srgbClr val="EF7D1A"/>
                </a:solidFill>
                <a:latin typeface="Noto Sans"/>
              </a:rPr>
              <a:t>283.270</a:t>
            </a:r>
          </a:p>
          <a:p>
            <a:pPr>
              <a:lnSpc>
                <a:spcPct val="113000"/>
              </a:lnSpc>
              <a:spcBef>
                <a:spcPts val="0"/>
              </a:spcBef>
              <a:spcAft>
                <a:spcPts val="0"/>
              </a:spcAft>
            </a:pPr>
            <a:r>
              <a:rPr sz="1250" b="0">
                <a:solidFill>
                  <a:srgbClr val="F8F2E4"/>
                </a:solidFill>
                <a:latin typeface="Noto Sans"/>
              </a:rPr>
              <a:t>kasus seri pemantauan karhutla, terpisah dari seri nasional SKDR</a:t>
            </a:r>
          </a:p>
        </p:txBody>
      </p:sp>
      <p:sp>
        <p:nvSpPr>
          <p:cNvPr id="6" name="TextBox 5"/>
          <p:cNvSpPr txBox="1"/>
          <p:nvPr/>
        </p:nvSpPr>
        <p:spPr>
          <a:xfrm>
            <a:off x="502920" y="3429000"/>
            <a:ext cx="4572000" cy="2651760"/>
          </a:xfrm>
          <a:prstGeom prst="rect">
            <a:avLst/>
          </a:prstGeom>
          <a:noFill/>
        </p:spPr>
        <p:txBody>
          <a:bodyPr wrap="square" anchor="t" lIns="0" rIns="0" tIns="0" bIns="0">
            <a:spAutoFit/>
          </a:bodyPr>
          <a:lstStyle/>
          <a:p>
            <a:pPr>
              <a:lnSpc>
                <a:spcPct val="113000"/>
              </a:lnSpc>
              <a:spcBef>
                <a:spcPts val="0"/>
              </a:spcBef>
              <a:spcAft>
                <a:spcPts val="1000"/>
              </a:spcAft>
            </a:pPr>
            <a:r>
              <a:rPr sz="1450" b="0">
                <a:solidFill>
                  <a:srgbClr val="2A1E33"/>
                </a:solidFill>
                <a:latin typeface="Noto Sans"/>
              </a:rPr>
              <a:t>Seri pemantauan karhutla mencatat 283.270 kasus pada 18 Agustus sampai 13 Oktober 2026, di 63 kabupaten/kota pada 7 provinsi (rata-rata 4.496 kasus per kab/kota).</a:t>
            </a:r>
          </a:p>
          <a:p>
            <a:pPr>
              <a:lnSpc>
                <a:spcPct val="113000"/>
              </a:lnSpc>
              <a:spcBef>
                <a:spcPts val="0"/>
              </a:spcBef>
              <a:spcAft>
                <a:spcPts val="1000"/>
              </a:spcAft>
            </a:pPr>
            <a:r>
              <a:rPr sz="1450" b="0">
                <a:solidFill>
                  <a:srgbClr val="2A1E33"/>
                </a:solidFill>
                <a:latin typeface="Noto Sans"/>
              </a:rPr>
              <a:t>Kalimantan Selatan (74.636) dan Sumatera Selatan (74.458) bersama menyumbang 52,6% kasus karhutla; selisih keduanya hanya 178 kasus.</a:t>
            </a:r>
          </a:p>
          <a:p>
            <a:pPr>
              <a:lnSpc>
                <a:spcPct val="113000"/>
              </a:lnSpc>
              <a:spcBef>
                <a:spcPts val="0"/>
              </a:spcBef>
              <a:spcAft>
                <a:spcPts val="1000"/>
              </a:spcAft>
            </a:pPr>
            <a:r>
              <a:rPr sz="1450" b="0">
                <a:solidFill>
                  <a:srgbClr val="2A1E33"/>
                </a:solidFill>
                <a:latin typeface="Noto Sans"/>
              </a:rPr>
              <a:t>Kumulatif kasus naik 21,1 kali dalam masa pemantauan: asap menyebar jauh lebih cepat daripada respons awal.</a:t>
            </a:r>
          </a:p>
        </p:txBody>
      </p:sp>
      <p:sp>
        <p:nvSpPr>
          <p:cNvPr id="7" name="Rounded Rectangle 6"/>
          <p:cNvSpPr/>
          <p:nvPr/>
        </p:nvSpPr>
        <p:spPr>
          <a:xfrm>
            <a:off x="5458968" y="1481328"/>
            <a:ext cx="6291072" cy="4206240"/>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94960" y="1417320"/>
            <a:ext cx="6291072" cy="420624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4_karhutla_provinsi.png"/>
          <p:cNvPicPr>
            <a:picLocks noChangeAspect="1"/>
          </p:cNvPicPr>
          <p:nvPr/>
        </p:nvPicPr>
        <p:blipFill>
          <a:blip r:embed="rId2"/>
          <a:stretch>
            <a:fillRect/>
          </a:stretch>
        </p:blipFill>
        <p:spPr>
          <a:xfrm>
            <a:off x="5596128" y="2211832"/>
            <a:ext cx="5888736" cy="2617216"/>
          </a:xfrm>
          <a:prstGeom prst="rect">
            <a:avLst/>
          </a:prstGeom>
        </p:spPr>
      </p:pic>
      <p:sp>
        <p:nvSpPr>
          <p:cNvPr id="10" name="TextBox 9"/>
          <p:cNvSpPr txBox="1"/>
          <p:nvPr/>
        </p:nvSpPr>
        <p:spPr>
          <a:xfrm>
            <a:off x="5394960" y="5714999"/>
            <a:ext cx="6291072" cy="274320"/>
          </a:xfrm>
          <a:prstGeom prst="rect">
            <a:avLst/>
          </a:prstGeom>
          <a:noFill/>
        </p:spPr>
        <p:txBody>
          <a:bodyPr wrap="square" anchor="t" lIns="0" rIns="0" tIns="0" bIns="0">
            <a:spAutoFit/>
          </a:bodyPr>
          <a:lstStyle/>
          <a:p>
            <a:pPr>
              <a:lnSpc>
                <a:spcPct val="113000"/>
              </a:lnSpc>
              <a:spcBef>
                <a:spcPts val="0"/>
              </a:spcBef>
              <a:spcAft>
                <a:spcPts val="0"/>
              </a:spcAft>
            </a:pPr>
            <a:r>
              <a:rPr sz="1050" b="0">
                <a:solidFill>
                  <a:srgbClr val="8A5CA6"/>
                </a:solidFill>
                <a:latin typeface="Noto Sans"/>
              </a:rPr>
              <a:t>Chart: kasus karhutla per provinsi, seri pemantauan Kemenkes.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Temuan 4: Hampir 1 dari 4 Kasus Karhutla adalah Balita</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0"/>
            <a:ext cx="4526280" cy="3291840"/>
          </a:xfrm>
          <a:prstGeom prst="rect">
            <a:avLst/>
          </a:prstGeom>
          <a:noFill/>
        </p:spPr>
        <p:txBody>
          <a:bodyPr wrap="square" anchor="t" lIns="0" rIns="0" tIns="0" bIns="0">
            <a:spAutoFit/>
          </a:bodyPr>
          <a:lstStyle/>
          <a:p>
            <a:pPr>
              <a:lnSpc>
                <a:spcPct val="113000"/>
              </a:lnSpc>
              <a:spcBef>
                <a:spcPts val="0"/>
              </a:spcBef>
              <a:spcAft>
                <a:spcPts val="1000"/>
              </a:spcAft>
            </a:pPr>
            <a:r>
              <a:rPr sz="1550" b="0">
                <a:solidFill>
                  <a:srgbClr val="2A1E33"/>
                </a:solidFill>
                <a:latin typeface="Noto Sans"/>
              </a:rPr>
              <a:t>Balita (0-5 tahun) mencatat 63.711 kasus, setara 22,5% dari total seri karhutla. Kelompok di atas 5 tahun: 219.559 kasus (77,5%).</a:t>
            </a:r>
          </a:p>
          <a:p>
            <a:pPr>
              <a:lnSpc>
                <a:spcPct val="113000"/>
              </a:lnSpc>
              <a:spcBef>
                <a:spcPts val="0"/>
              </a:spcBef>
              <a:spcAft>
                <a:spcPts val="1000"/>
              </a:spcAft>
            </a:pPr>
            <a:r>
              <a:rPr sz="1550" b="0">
                <a:solidFill>
                  <a:srgbClr val="2A1E33"/>
                </a:solidFill>
                <a:latin typeface="Noto Sans"/>
              </a:rPr>
              <a:t>Porsinya stabil: 23,1% pada 21 September menjadi 22,5% pada 13 Oktober. Anak adalah kelompok rentan utama paparan asap: saluran napas lebih kecil, frekuensi napas lebih tinggi.</a:t>
            </a:r>
          </a:p>
          <a:p>
            <a:pPr>
              <a:lnSpc>
                <a:spcPct val="113000"/>
              </a:lnSpc>
              <a:spcBef>
                <a:spcPts val="0"/>
              </a:spcBef>
              <a:spcAft>
                <a:spcPts val="1000"/>
              </a:spcAft>
            </a:pPr>
            <a:r>
              <a:rPr sz="1550" b="0">
                <a:solidFill>
                  <a:srgbClr val="2A1E33"/>
                </a:solidFill>
                <a:latin typeface="Noto Sans"/>
              </a:rPr>
              <a:t>Respons pemerintah: 2.106 tenaga kesehatan dimobilisasi dan lebih dari 2,8 juta masker didistribusikan.</a:t>
            </a:r>
          </a:p>
        </p:txBody>
      </p:sp>
      <p:sp>
        <p:nvSpPr>
          <p:cNvPr id="5" name="Rounded Rectangle 4"/>
          <p:cNvSpPr/>
          <p:nvPr/>
        </p:nvSpPr>
        <p:spPr>
          <a:xfrm>
            <a:off x="502920" y="4846320"/>
            <a:ext cx="4526280" cy="1170432"/>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010912"/>
            <a:ext cx="4023360" cy="896112"/>
          </a:xfrm>
          <a:prstGeom prst="rect">
            <a:avLst/>
          </a:prstGeom>
          <a:noFill/>
        </p:spPr>
        <p:txBody>
          <a:bodyPr wrap="square" anchor="t" lIns="0" rIns="0" tIns="0" bIns="0">
            <a:spAutoFit/>
          </a:bodyPr>
          <a:lstStyle/>
          <a:p>
            <a:pPr>
              <a:lnSpc>
                <a:spcPct val="113000"/>
              </a:lnSpc>
              <a:spcBef>
                <a:spcPts val="0"/>
              </a:spcBef>
              <a:spcAft>
                <a:spcPts val="200"/>
              </a:spcAft>
            </a:pPr>
            <a:r>
              <a:rPr sz="2700" b="1">
                <a:solidFill>
                  <a:srgbClr val="EF7D1A"/>
                </a:solidFill>
                <a:latin typeface="Noto Sans"/>
              </a:rPr>
              <a:t>22,5%</a:t>
            </a:r>
          </a:p>
          <a:p>
            <a:pPr>
              <a:lnSpc>
                <a:spcPct val="113000"/>
              </a:lnSpc>
              <a:spcBef>
                <a:spcPts val="0"/>
              </a:spcBef>
              <a:spcAft>
                <a:spcPts val="0"/>
              </a:spcAft>
            </a:pPr>
            <a:r>
              <a:rPr sz="1250" b="0">
                <a:solidFill>
                  <a:srgbClr val="F8F2E4"/>
                </a:solidFill>
                <a:latin typeface="Noto Sans"/>
              </a:rPr>
              <a:t>kasus karhutla adalah balita usia 0-5 tahun</a:t>
            </a:r>
          </a:p>
        </p:txBody>
      </p:sp>
      <p:sp>
        <p:nvSpPr>
          <p:cNvPr id="7" name="Rounded Rectangle 6"/>
          <p:cNvSpPr/>
          <p:nvPr/>
        </p:nvSpPr>
        <p:spPr>
          <a:xfrm>
            <a:off x="5413248" y="1481328"/>
            <a:ext cx="6336792" cy="3977639"/>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49240" y="1417320"/>
            <a:ext cx="6336792" cy="3977639"/>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5_karhutla_usia.png"/>
          <p:cNvPicPr>
            <a:picLocks noChangeAspect="1"/>
          </p:cNvPicPr>
          <p:nvPr/>
        </p:nvPicPr>
        <p:blipFill>
          <a:blip r:embed="rId2"/>
          <a:stretch>
            <a:fillRect/>
          </a:stretch>
        </p:blipFill>
        <p:spPr>
          <a:xfrm>
            <a:off x="6014923" y="1618488"/>
            <a:ext cx="5005425" cy="3575303"/>
          </a:xfrm>
          <a:prstGeom prst="rect">
            <a:avLst/>
          </a:prstGeom>
        </p:spPr>
      </p:pic>
      <p:sp>
        <p:nvSpPr>
          <p:cNvPr id="10" name="TextBox 9"/>
          <p:cNvSpPr txBox="1"/>
          <p:nvPr/>
        </p:nvSpPr>
        <p:spPr>
          <a:xfrm>
            <a:off x="5349240" y="5486399"/>
            <a:ext cx="6336792" cy="274320"/>
          </a:xfrm>
          <a:prstGeom prst="rect">
            <a:avLst/>
          </a:prstGeom>
          <a:noFill/>
        </p:spPr>
        <p:txBody>
          <a:bodyPr wrap="square" anchor="t" lIns="0" rIns="0" tIns="0" bIns="0">
            <a:spAutoFit/>
          </a:bodyPr>
          <a:lstStyle/>
          <a:p>
            <a:pPr>
              <a:lnSpc>
                <a:spcPct val="113000"/>
              </a:lnSpc>
              <a:spcBef>
                <a:spcPts val="0"/>
              </a:spcBef>
              <a:spcAft>
                <a:spcPts val="0"/>
              </a:spcAft>
            </a:pPr>
            <a:r>
              <a:rPr sz="1050" b="0">
                <a:solidFill>
                  <a:srgbClr val="8A5CA6"/>
                </a:solidFill>
                <a:latin typeface="Noto Sans"/>
              </a:rPr>
              <a:t>Chart: kasus ISPA karhutla menurut kelompok usia.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Temuan 5: Udara Jauh di Atas Ambang Berbahaya</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81328"/>
            <a:ext cx="5120640" cy="3520440"/>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417320"/>
            <a:ext cx="5120640" cy="352044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7_ispu.png"/>
          <p:cNvPicPr>
            <a:picLocks noChangeAspect="1"/>
          </p:cNvPicPr>
          <p:nvPr/>
        </p:nvPicPr>
        <p:blipFill>
          <a:blip r:embed="rId2"/>
          <a:stretch>
            <a:fillRect/>
          </a:stretch>
        </p:blipFill>
        <p:spPr>
          <a:xfrm>
            <a:off x="704088" y="1735836"/>
            <a:ext cx="4718303" cy="2883407"/>
          </a:xfrm>
          <a:prstGeom prst="rect">
            <a:avLst/>
          </a:prstGeom>
        </p:spPr>
      </p:pic>
      <p:sp>
        <p:nvSpPr>
          <p:cNvPr id="7" name="TextBox 6"/>
          <p:cNvSpPr txBox="1"/>
          <p:nvPr/>
        </p:nvSpPr>
        <p:spPr>
          <a:xfrm>
            <a:off x="502920" y="5029200"/>
            <a:ext cx="5120640" cy="274320"/>
          </a:xfrm>
          <a:prstGeom prst="rect">
            <a:avLst/>
          </a:prstGeom>
          <a:noFill/>
        </p:spPr>
        <p:txBody>
          <a:bodyPr wrap="square" anchor="t" lIns="0" rIns="0" tIns="0" bIns="0">
            <a:spAutoFit/>
          </a:bodyPr>
          <a:lstStyle/>
          <a:p>
            <a:pPr>
              <a:lnSpc>
                <a:spcPct val="113000"/>
              </a:lnSpc>
              <a:spcBef>
                <a:spcPts val="0"/>
              </a:spcBef>
              <a:spcAft>
                <a:spcPts val="0"/>
              </a:spcAft>
            </a:pPr>
            <a:r>
              <a:rPr sz="1050" b="0">
                <a:solidFill>
                  <a:srgbClr val="8A5CA6"/>
                </a:solidFill>
                <a:latin typeface="Noto Sans"/>
              </a:rPr>
              <a:t>Chart: konsentrasi PM2.5, 10 wilayah terburuk.</a:t>
            </a:r>
          </a:p>
        </p:txBody>
      </p:sp>
      <p:sp>
        <p:nvSpPr>
          <p:cNvPr id="8" name="TextBox 7"/>
          <p:cNvSpPr txBox="1"/>
          <p:nvPr/>
        </p:nvSpPr>
        <p:spPr>
          <a:xfrm>
            <a:off x="5989320" y="1481328"/>
            <a:ext cx="5715000" cy="3474720"/>
          </a:xfrm>
          <a:prstGeom prst="rect">
            <a:avLst/>
          </a:prstGeom>
          <a:noFill/>
        </p:spPr>
        <p:txBody>
          <a:bodyPr wrap="square" anchor="t" lIns="0" rIns="0" tIns="0" bIns="0">
            <a:spAutoFit/>
          </a:bodyPr>
          <a:lstStyle/>
          <a:p>
            <a:pPr>
              <a:lnSpc>
                <a:spcPct val="113000"/>
              </a:lnSpc>
              <a:spcBef>
                <a:spcPts val="0"/>
              </a:spcBef>
              <a:spcAft>
                <a:spcPts val="1000"/>
              </a:spcAft>
            </a:pPr>
            <a:r>
              <a:rPr sz="1550" b="0">
                <a:solidFill>
                  <a:srgbClr val="2A1E33"/>
                </a:solidFill>
                <a:latin typeface="Noto Sans"/>
              </a:rPr>
              <a:t>PM2.5 di 10 wilayah terburuk berkisar 507 sampai 1.837 (12 Oktober 2026, 15:00 WIB). Barito Kuala tertinggi: 1.837, setara 6,1 kali ambang ISPU berbahaya (di atas 300).</a:t>
            </a:r>
          </a:p>
          <a:p>
            <a:pPr>
              <a:lnSpc>
                <a:spcPct val="113000"/>
              </a:lnSpc>
              <a:spcBef>
                <a:spcPts val="0"/>
              </a:spcBef>
              <a:spcAft>
                <a:spcPts val="1000"/>
              </a:spcAft>
            </a:pPr>
            <a:r>
              <a:rPr sz="1550" b="0">
                <a:solidFill>
                  <a:srgbClr val="2A1E33"/>
                </a:solidFill>
                <a:latin typeface="Noto Sans"/>
              </a:rPr>
              <a:t>Sebanyak 7 dari 10 wilayah terburuk berada di Kalimantan Tengah. Kemenkes mencatat 12 kab/kota berkategori berbahaya dan 9 wilayah sangat tidak sehat.</a:t>
            </a:r>
          </a:p>
          <a:p>
            <a:pPr>
              <a:lnSpc>
                <a:spcPct val="113000"/>
              </a:lnSpc>
              <a:spcBef>
                <a:spcPts val="0"/>
              </a:spcBef>
              <a:spcAft>
                <a:spcPts val="1000"/>
              </a:spcAft>
            </a:pPr>
            <a:r>
              <a:rPr sz="1550" b="0">
                <a:solidFill>
                  <a:srgbClr val="2A1E33"/>
                </a:solidFill>
                <a:latin typeface="Noto Sans"/>
              </a:rPr>
              <a:t>Asap karhutla membawa PM2.5 yang masuk jauh ke paru-paru: kualitas udara adalah penghubung langsung antara karhutla dan lonjakan ISPA.</a:t>
            </a:r>
          </a:p>
        </p:txBody>
      </p:sp>
      <p:sp>
        <p:nvSpPr>
          <p:cNvPr id="9" name="Rounded Rectangle 8"/>
          <p:cNvSpPr/>
          <p:nvPr/>
        </p:nvSpPr>
        <p:spPr>
          <a:xfrm>
            <a:off x="502920" y="5193792"/>
            <a:ext cx="11183112" cy="932688"/>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5394960"/>
            <a:ext cx="10424160" cy="548640"/>
          </a:xfrm>
          <a:prstGeom prst="rect">
            <a:avLst/>
          </a:prstGeom>
          <a:noFill/>
        </p:spPr>
        <p:txBody>
          <a:bodyPr wrap="square" anchor="ctr" lIns="0" rIns="0" tIns="0" bIns="0">
            <a:spAutoFit/>
          </a:bodyPr>
          <a:lstStyle/>
          <a:p>
            <a:pPr>
              <a:lnSpc>
                <a:spcPct val="113000"/>
              </a:lnSpc>
              <a:spcBef>
                <a:spcPts val="0"/>
              </a:spcBef>
              <a:spcAft>
                <a:spcPts val="0"/>
              </a:spcAft>
            </a:pPr>
            <a:r>
              <a:rPr sz="1600" b="1">
                <a:solidFill>
                  <a:srgbClr val="5E2A72"/>
                </a:solidFill>
                <a:latin typeface="Noto Sans"/>
              </a:rPr>
              <a:t>Barito Kuala 1.837: 6,1 kali ambang berbahaya ISPU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Dashboard Power BI</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81328"/>
            <a:ext cx="6903720" cy="4160520"/>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417320"/>
            <a:ext cx="6903720" cy="416052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shboard_preview_halaman1.png"/>
          <p:cNvPicPr>
            <a:picLocks noChangeAspect="1"/>
          </p:cNvPicPr>
          <p:nvPr/>
        </p:nvPicPr>
        <p:blipFill>
          <a:blip r:embed="rId2"/>
          <a:stretch>
            <a:fillRect/>
          </a:stretch>
        </p:blipFill>
        <p:spPr>
          <a:xfrm>
            <a:off x="704088" y="1669065"/>
            <a:ext cx="6501383" cy="3657028"/>
          </a:xfrm>
          <a:prstGeom prst="rect">
            <a:avLst/>
          </a:prstGeom>
        </p:spPr>
      </p:pic>
      <p:sp>
        <p:nvSpPr>
          <p:cNvPr id="7" name="TextBox 6"/>
          <p:cNvSpPr txBox="1"/>
          <p:nvPr/>
        </p:nvSpPr>
        <p:spPr>
          <a:xfrm>
            <a:off x="502920" y="5669279"/>
            <a:ext cx="6903720" cy="274320"/>
          </a:xfrm>
          <a:prstGeom prst="rect">
            <a:avLst/>
          </a:prstGeom>
          <a:noFill/>
        </p:spPr>
        <p:txBody>
          <a:bodyPr wrap="square" anchor="t" lIns="0" rIns="0" tIns="0" bIns="0">
            <a:spAutoFit/>
          </a:bodyPr>
          <a:lstStyle/>
          <a:p>
            <a:pPr>
              <a:lnSpc>
                <a:spcPct val="113000"/>
              </a:lnSpc>
              <a:spcBef>
                <a:spcPts val="0"/>
              </a:spcBef>
              <a:spcAft>
                <a:spcPts val="0"/>
              </a:spcAft>
            </a:pPr>
            <a:r>
              <a:rPr sz="1050" b="0">
                <a:solidFill>
                  <a:srgbClr val="8A5CA6"/>
                </a:solidFill>
                <a:latin typeface="Noto Sans"/>
              </a:rPr>
              <a:t>Pratinjau halaman 1 dashboard, dirender dari kit Power BI proyek ini.</a:t>
            </a:r>
          </a:p>
        </p:txBody>
      </p:sp>
      <p:sp>
        <p:nvSpPr>
          <p:cNvPr id="8" name="TextBox 7"/>
          <p:cNvSpPr txBox="1"/>
          <p:nvPr/>
        </p:nvSpPr>
        <p:spPr>
          <a:xfrm>
            <a:off x="7726679" y="1417320"/>
            <a:ext cx="3959352" cy="365760"/>
          </a:xfrm>
          <a:prstGeom prst="rect">
            <a:avLst/>
          </a:prstGeom>
          <a:noFill/>
        </p:spPr>
        <p:txBody>
          <a:bodyPr wrap="square" anchor="t" lIns="0" rIns="0" tIns="0" bIns="0">
            <a:spAutoFit/>
          </a:bodyPr>
          <a:lstStyle/>
          <a:p>
            <a:pPr>
              <a:lnSpc>
                <a:spcPct val="113000"/>
              </a:lnSpc>
              <a:spcBef>
                <a:spcPts val="0"/>
              </a:spcBef>
              <a:spcAft>
                <a:spcPts val="0"/>
              </a:spcAft>
            </a:pPr>
            <a:r>
              <a:rPr sz="1300" b="1">
                <a:solidFill>
                  <a:srgbClr val="5E2A72"/>
                </a:solidFill>
                <a:latin typeface="Noto Sans"/>
              </a:rPr>
              <a:t>ISI DASHBOARD</a:t>
            </a:r>
          </a:p>
        </p:txBody>
      </p:sp>
      <p:sp>
        <p:nvSpPr>
          <p:cNvPr id="9" name="Rounded Rectangle 8"/>
          <p:cNvSpPr/>
          <p:nvPr/>
        </p:nvSpPr>
        <p:spPr>
          <a:xfrm>
            <a:off x="7726679" y="1810512"/>
            <a:ext cx="3959352" cy="73152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73568" y="1901952"/>
            <a:ext cx="3520440" cy="566928"/>
          </a:xfrm>
          <a:prstGeom prst="rect">
            <a:avLst/>
          </a:prstGeom>
          <a:noFill/>
        </p:spPr>
        <p:txBody>
          <a:bodyPr wrap="square" anchor="t" lIns="0" rIns="0" tIns="0" bIns="0">
            <a:spAutoFit/>
          </a:bodyPr>
          <a:lstStyle/>
          <a:p>
            <a:pPr>
              <a:lnSpc>
                <a:spcPct val="113000"/>
              </a:lnSpc>
              <a:spcBef>
                <a:spcPts val="0"/>
              </a:spcBef>
              <a:spcAft>
                <a:spcPts val="100"/>
              </a:spcAft>
            </a:pPr>
            <a:r>
              <a:rPr sz="1050" b="1">
                <a:solidFill>
                  <a:srgbClr val="EF7D1A"/>
                </a:solidFill>
                <a:latin typeface="Noto Sans"/>
              </a:rPr>
              <a:t>Halaman 1</a:t>
            </a:r>
          </a:p>
          <a:p>
            <a:pPr>
              <a:lnSpc>
                <a:spcPct val="113000"/>
              </a:lnSpc>
              <a:spcBef>
                <a:spcPts val="0"/>
              </a:spcBef>
              <a:spcAft>
                <a:spcPts val="0"/>
              </a:spcAft>
            </a:pPr>
            <a:r>
              <a:rPr sz="1300" b="1">
                <a:solidFill>
                  <a:srgbClr val="2A1E33"/>
                </a:solidFill>
                <a:latin typeface="Noto Sans"/>
              </a:rPr>
              <a:t>Ringkasan Nasional SKDR</a:t>
            </a:r>
          </a:p>
        </p:txBody>
      </p:sp>
      <p:sp>
        <p:nvSpPr>
          <p:cNvPr id="11" name="Rounded Rectangle 10"/>
          <p:cNvSpPr/>
          <p:nvPr/>
        </p:nvSpPr>
        <p:spPr>
          <a:xfrm>
            <a:off x="7726679" y="2651760"/>
            <a:ext cx="3959352" cy="73152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8" y="2743200"/>
            <a:ext cx="3520440" cy="566928"/>
          </a:xfrm>
          <a:prstGeom prst="rect">
            <a:avLst/>
          </a:prstGeom>
          <a:noFill/>
        </p:spPr>
        <p:txBody>
          <a:bodyPr wrap="square" anchor="t" lIns="0" rIns="0" tIns="0" bIns="0">
            <a:spAutoFit/>
          </a:bodyPr>
          <a:lstStyle/>
          <a:p>
            <a:pPr>
              <a:lnSpc>
                <a:spcPct val="113000"/>
              </a:lnSpc>
              <a:spcBef>
                <a:spcPts val="0"/>
              </a:spcBef>
              <a:spcAft>
                <a:spcPts val="100"/>
              </a:spcAft>
            </a:pPr>
            <a:r>
              <a:rPr sz="1050" b="1">
                <a:solidFill>
                  <a:srgbClr val="EF7D1A"/>
                </a:solidFill>
                <a:latin typeface="Noto Sans"/>
              </a:rPr>
              <a:t>Halaman 2</a:t>
            </a:r>
          </a:p>
          <a:p>
            <a:pPr>
              <a:lnSpc>
                <a:spcPct val="113000"/>
              </a:lnSpc>
              <a:spcBef>
                <a:spcPts val="0"/>
              </a:spcBef>
              <a:spcAft>
                <a:spcPts val="0"/>
              </a:spcAft>
            </a:pPr>
            <a:r>
              <a:rPr sz="1300" b="1">
                <a:solidFill>
                  <a:srgbClr val="2A1E33"/>
                </a:solidFill>
                <a:latin typeface="Noto Sans"/>
              </a:rPr>
              <a:t>Per Kapita dan Konsentrasi Provinsi</a:t>
            </a:r>
          </a:p>
        </p:txBody>
      </p:sp>
      <p:sp>
        <p:nvSpPr>
          <p:cNvPr id="13" name="Rounded Rectangle 12"/>
          <p:cNvSpPr/>
          <p:nvPr/>
        </p:nvSpPr>
        <p:spPr>
          <a:xfrm>
            <a:off x="7726679" y="3493008"/>
            <a:ext cx="3959352" cy="73152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73568" y="3584448"/>
            <a:ext cx="3520440" cy="566928"/>
          </a:xfrm>
          <a:prstGeom prst="rect">
            <a:avLst/>
          </a:prstGeom>
          <a:noFill/>
        </p:spPr>
        <p:txBody>
          <a:bodyPr wrap="square" anchor="t" lIns="0" rIns="0" tIns="0" bIns="0">
            <a:spAutoFit/>
          </a:bodyPr>
          <a:lstStyle/>
          <a:p>
            <a:pPr>
              <a:lnSpc>
                <a:spcPct val="113000"/>
              </a:lnSpc>
              <a:spcBef>
                <a:spcPts val="0"/>
              </a:spcBef>
              <a:spcAft>
                <a:spcPts val="100"/>
              </a:spcAft>
            </a:pPr>
            <a:r>
              <a:rPr sz="1050" b="1">
                <a:solidFill>
                  <a:srgbClr val="EF7D1A"/>
                </a:solidFill>
                <a:latin typeface="Noto Sans"/>
              </a:rPr>
              <a:t>Halaman 3</a:t>
            </a:r>
          </a:p>
          <a:p>
            <a:pPr>
              <a:lnSpc>
                <a:spcPct val="113000"/>
              </a:lnSpc>
              <a:spcBef>
                <a:spcPts val="0"/>
              </a:spcBef>
              <a:spcAft>
                <a:spcPts val="0"/>
              </a:spcAft>
            </a:pPr>
            <a:r>
              <a:rPr sz="1300" b="1">
                <a:solidFill>
                  <a:srgbClr val="2A1E33"/>
                </a:solidFill>
                <a:latin typeface="Noto Sans"/>
              </a:rPr>
              <a:t>Karhutla: Dampak Kesehatan (Seri Terpisah)</a:t>
            </a:r>
          </a:p>
        </p:txBody>
      </p:sp>
      <p:sp>
        <p:nvSpPr>
          <p:cNvPr id="15" name="Rounded Rectangle 14"/>
          <p:cNvSpPr/>
          <p:nvPr/>
        </p:nvSpPr>
        <p:spPr>
          <a:xfrm>
            <a:off x="7726679" y="4334256"/>
            <a:ext cx="3959352" cy="73152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73568" y="4425696"/>
            <a:ext cx="3520440" cy="566928"/>
          </a:xfrm>
          <a:prstGeom prst="rect">
            <a:avLst/>
          </a:prstGeom>
          <a:noFill/>
        </p:spPr>
        <p:txBody>
          <a:bodyPr wrap="square" anchor="t" lIns="0" rIns="0" tIns="0" bIns="0">
            <a:spAutoFit/>
          </a:bodyPr>
          <a:lstStyle/>
          <a:p>
            <a:pPr>
              <a:lnSpc>
                <a:spcPct val="113000"/>
              </a:lnSpc>
              <a:spcBef>
                <a:spcPts val="0"/>
              </a:spcBef>
              <a:spcAft>
                <a:spcPts val="100"/>
              </a:spcAft>
            </a:pPr>
            <a:r>
              <a:rPr sz="1050" b="1">
                <a:solidFill>
                  <a:srgbClr val="EF7D1A"/>
                </a:solidFill>
                <a:latin typeface="Noto Sans"/>
              </a:rPr>
              <a:t>Halaman 4</a:t>
            </a:r>
          </a:p>
          <a:p>
            <a:pPr>
              <a:lnSpc>
                <a:spcPct val="113000"/>
              </a:lnSpc>
              <a:spcBef>
                <a:spcPts val="0"/>
              </a:spcBef>
              <a:spcAft>
                <a:spcPts val="0"/>
              </a:spcAft>
            </a:pPr>
            <a:r>
              <a:rPr sz="1300" b="1">
                <a:solidFill>
                  <a:srgbClr val="2A1E33"/>
                </a:solidFill>
                <a:latin typeface="Noto Sans"/>
              </a:rPr>
              <a:t>Kualitas Udara dan Konteks Jakarta + Metodologi</a:t>
            </a:r>
          </a:p>
        </p:txBody>
      </p:sp>
      <p:sp>
        <p:nvSpPr>
          <p:cNvPr id="17" name="TextBox 16"/>
          <p:cNvSpPr txBox="1"/>
          <p:nvPr/>
        </p:nvSpPr>
        <p:spPr>
          <a:xfrm>
            <a:off x="7726679" y="5212080"/>
            <a:ext cx="3959352" cy="914400"/>
          </a:xfrm>
          <a:prstGeom prst="rect">
            <a:avLst/>
          </a:prstGeom>
          <a:noFill/>
        </p:spPr>
        <p:txBody>
          <a:bodyPr wrap="square" anchor="t" lIns="0" rIns="0" tIns="0" bIns="0">
            <a:spAutoFit/>
          </a:bodyPr>
          <a:lstStyle/>
          <a:p>
            <a:pPr>
              <a:lnSpc>
                <a:spcPct val="113000"/>
              </a:lnSpc>
              <a:spcBef>
                <a:spcPts val="0"/>
              </a:spcBef>
              <a:spcAft>
                <a:spcPts val="0"/>
              </a:spcAft>
            </a:pPr>
            <a:r>
              <a:rPr sz="1200" b="0">
                <a:solidFill>
                  <a:srgbClr val="2A1E33"/>
                </a:solidFill>
                <a:latin typeface="Noto Sans"/>
              </a:rPr>
              <a:t>Model dashboard menjaga dua seri tetap terpisah: SKDR tidak pernah dicampur dengan karhutla, mengikuti aturan data proyek ini.</a:t>
            </a:r>
          </a:p>
        </p:txBody>
      </p:sp>
      <p:sp>
        <p:nvSpPr>
          <p:cNvPr id="18" name="Rounded Rectangle 17"/>
          <p:cNvSpPr/>
          <p:nvPr/>
        </p:nvSpPr>
        <p:spPr>
          <a:xfrm>
            <a:off x="502920" y="5961888"/>
            <a:ext cx="11183112" cy="603504"/>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961888"/>
            <a:ext cx="10698480" cy="603504"/>
          </a:xfrm>
          <a:prstGeom prst="rect">
            <a:avLst/>
          </a:prstGeom>
          <a:noFill/>
        </p:spPr>
        <p:txBody>
          <a:bodyPr wrap="square" anchor="ctr" lIns="0" rIns="0" tIns="0" bIns="0">
            <a:spAutoFit/>
          </a:bodyPr>
          <a:lstStyle/>
          <a:p>
            <a:pPr>
              <a:lnSpc>
                <a:spcPct val="110000"/>
              </a:lnSpc>
              <a:spcBef>
                <a:spcPts val="0"/>
              </a:spcBef>
              <a:spcAft>
                <a:spcPts val="0"/>
              </a:spcAft>
            </a:pPr>
            <a:r>
              <a:rPr sz="1250" b="1">
                <a:solidFill>
                  <a:srgbClr val="FFFFFF"/>
                </a:solidFill>
                <a:latin typeface="Noto Sans"/>
              </a:rPr>
              <a:t>ISPA-Indonesia-2026.pbix</a:t>
            </a:r>
            <a:r>
              <a:rPr sz="1250" b="0">
                <a:solidFill>
                  <a:srgbClr val="F8F2E4"/>
                </a:solidFill>
                <a:latin typeface="Noto Sans"/>
              </a:rPr>
              <a:t>: star schema, measure DAX terverifikasi, layout 4 halaman, dan panduan rakit ada di folder powerbi pada repo ini.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E8D8"/>
        </a:solidFill>
        <a:effectLst/>
      </p:bgPr>
    </p:bg>
    <p:spTree>
      <p:nvGrpSpPr>
        <p:cNvPr id="1" name=""/>
        <p:cNvGrpSpPr/>
        <p:nvPr/>
      </p:nvGrpSpPr>
      <p:grpSpPr/>
      <p:sp>
        <p:nvSpPr>
          <p:cNvPr id="2" name="TextBox 1"/>
          <p:cNvSpPr txBox="1"/>
          <p:nvPr/>
        </p:nvSpPr>
        <p:spPr>
          <a:xfrm>
            <a:off x="502920" y="384048"/>
            <a:ext cx="11155680" cy="914400"/>
          </a:xfrm>
          <a:prstGeom prst="rect">
            <a:avLst/>
          </a:prstGeom>
          <a:noFill/>
        </p:spPr>
        <p:txBody>
          <a:bodyPr wrap="square" anchor="t" lIns="0" rIns="0" tIns="0" bIns="0">
            <a:spAutoFit/>
          </a:bodyPr>
          <a:lstStyle/>
          <a:p>
            <a:pPr>
              <a:lnSpc>
                <a:spcPct val="113000"/>
              </a:lnSpc>
              <a:spcBef>
                <a:spcPts val="0"/>
              </a:spcBef>
              <a:spcAft>
                <a:spcPts val="0"/>
              </a:spcAft>
            </a:pPr>
            <a:r>
              <a:rPr sz="3100" b="1">
                <a:solidFill>
                  <a:srgbClr val="2A1E33"/>
                </a:solidFill>
                <a:latin typeface="Noto Sans"/>
              </a:rPr>
              <a:t>Penutup</a:t>
            </a:r>
          </a:p>
        </p:txBody>
      </p:sp>
      <p:sp>
        <p:nvSpPr>
          <p:cNvPr id="3" name="Rounded Rectangle 2"/>
          <p:cNvSpPr/>
          <p:nvPr/>
        </p:nvSpPr>
        <p:spPr>
          <a:xfrm>
            <a:off x="521207" y="1097280"/>
            <a:ext cx="777240" cy="82296"/>
          </a:xfrm>
          <a:prstGeom prst="roundRect">
            <a:avLst>
              <a:gd name="adj" fmla="val 5500"/>
            </a:avLst>
          </a:prstGeom>
          <a:solidFill>
            <a:srgbClr val="EF7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35608"/>
            <a:ext cx="6720840" cy="3246120"/>
          </a:xfrm>
          <a:prstGeom prst="roundRect">
            <a:avLst>
              <a:gd name="adj" fmla="val 5500"/>
            </a:avLst>
          </a:prstGeom>
          <a:solidFill>
            <a:srgbClr val="DDC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71600"/>
            <a:ext cx="6720840" cy="3246120"/>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6035040" cy="2697480"/>
          </a:xfrm>
          <a:prstGeom prst="rect">
            <a:avLst/>
          </a:prstGeom>
          <a:noFill/>
        </p:spPr>
        <p:txBody>
          <a:bodyPr wrap="square" anchor="t" lIns="0" rIns="0" tIns="0" bIns="0">
            <a:spAutoFit/>
          </a:bodyPr>
          <a:lstStyle/>
          <a:p>
            <a:pPr>
              <a:lnSpc>
                <a:spcPct val="113000"/>
              </a:lnSpc>
              <a:spcBef>
                <a:spcPts val="0"/>
              </a:spcBef>
              <a:spcAft>
                <a:spcPts val="800"/>
              </a:spcAft>
            </a:pPr>
            <a:r>
              <a:rPr sz="1600" b="1">
                <a:solidFill>
                  <a:srgbClr val="5E2A72"/>
                </a:solidFill>
                <a:latin typeface="Noto Sans"/>
              </a:rPr>
              <a:t>Kesimpulan</a:t>
            </a:r>
          </a:p>
          <a:p>
            <a:pPr>
              <a:lnSpc>
                <a:spcPct val="113000"/>
              </a:lnSpc>
              <a:spcBef>
                <a:spcPts val="0"/>
              </a:spcBef>
              <a:spcAft>
                <a:spcPts val="0"/>
              </a:spcAft>
            </a:pPr>
            <a:r>
              <a:rPr sz="1500" b="0">
                <a:solidFill>
                  <a:srgbClr val="2A1E33"/>
                </a:solidFill>
                <a:latin typeface="Noto Sans"/>
              </a:rPr>
              <a:t>ISPA 2026 bukan sekadar musim batuk-pilek: 14,1 juta laporan nasional, 283.270 kasus di wilayah karhutla, dan udara sampai 6,1 kali ambang berbahaya. Data yang transparan adalah langkah pertama penanganan yang tepat.</a:t>
            </a:r>
          </a:p>
        </p:txBody>
      </p:sp>
      <p:sp>
        <p:nvSpPr>
          <p:cNvPr id="7" name="Rounded Rectangle 6"/>
          <p:cNvSpPr/>
          <p:nvPr/>
        </p:nvSpPr>
        <p:spPr>
          <a:xfrm>
            <a:off x="7543800" y="1371600"/>
            <a:ext cx="4142232" cy="1536192"/>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572768"/>
            <a:ext cx="3520440" cy="1188720"/>
          </a:xfrm>
          <a:prstGeom prst="rect">
            <a:avLst/>
          </a:prstGeom>
          <a:noFill/>
        </p:spPr>
        <p:txBody>
          <a:bodyPr wrap="square" anchor="t" lIns="0" rIns="0" tIns="0" bIns="0">
            <a:spAutoFit/>
          </a:bodyPr>
          <a:lstStyle/>
          <a:p>
            <a:pPr>
              <a:lnSpc>
                <a:spcPct val="113000"/>
              </a:lnSpc>
              <a:spcBef>
                <a:spcPts val="0"/>
              </a:spcBef>
              <a:spcAft>
                <a:spcPts val="400"/>
              </a:spcAft>
            </a:pPr>
            <a:r>
              <a:rPr sz="1450" b="1">
                <a:solidFill>
                  <a:srgbClr val="EF7D1A"/>
                </a:solidFill>
                <a:latin typeface="Noto Sans"/>
              </a:rPr>
              <a:t>Rekomendasi utama</a:t>
            </a:r>
          </a:p>
          <a:p>
            <a:pPr>
              <a:lnSpc>
                <a:spcPct val="113000"/>
              </a:lnSpc>
              <a:spcBef>
                <a:spcPts val="0"/>
              </a:spcBef>
              <a:spcAft>
                <a:spcPts val="0"/>
              </a:spcAft>
            </a:pPr>
            <a:r>
              <a:rPr sz="1200" b="0">
                <a:solidFill>
                  <a:srgbClr val="F8F2E4"/>
                </a:solidFill>
                <a:latin typeface="Noto Sans"/>
              </a:rPr>
              <a:t>Lindungi balita di wilayah karhutla; fokus Kalsel dan Sumsel (52,6% kasus karhutla); perkuat surveilans Jakarta; mulai persiapan sebelum kemarau.</a:t>
            </a:r>
          </a:p>
        </p:txBody>
      </p:sp>
      <p:sp>
        <p:nvSpPr>
          <p:cNvPr id="9" name="Rounded Rectangle 8"/>
          <p:cNvSpPr/>
          <p:nvPr/>
        </p:nvSpPr>
        <p:spPr>
          <a:xfrm>
            <a:off x="7543800" y="3081528"/>
            <a:ext cx="4142232" cy="1536192"/>
          </a:xfrm>
          <a:prstGeom prst="roundRect">
            <a:avLst>
              <a:gd name="adj" fmla="val 5500"/>
            </a:avLst>
          </a:prstGeom>
          <a:solidFill>
            <a:srgbClr val="F8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3282696"/>
            <a:ext cx="3520440" cy="1188720"/>
          </a:xfrm>
          <a:prstGeom prst="rect">
            <a:avLst/>
          </a:prstGeom>
          <a:noFill/>
        </p:spPr>
        <p:txBody>
          <a:bodyPr wrap="square" anchor="t" lIns="0" rIns="0" tIns="0" bIns="0">
            <a:spAutoFit/>
          </a:bodyPr>
          <a:lstStyle/>
          <a:p>
            <a:pPr>
              <a:lnSpc>
                <a:spcPct val="113000"/>
              </a:lnSpc>
              <a:spcBef>
                <a:spcPts val="0"/>
              </a:spcBef>
              <a:spcAft>
                <a:spcPts val="400"/>
              </a:spcAft>
            </a:pPr>
            <a:r>
              <a:rPr sz="1450" b="1">
                <a:solidFill>
                  <a:srgbClr val="5E2A72"/>
                </a:solidFill>
                <a:latin typeface="Noto Sans"/>
              </a:rPr>
              <a:t>Terbuka untuk direproduksi</a:t>
            </a:r>
          </a:p>
          <a:p>
            <a:pPr>
              <a:lnSpc>
                <a:spcPct val="113000"/>
              </a:lnSpc>
              <a:spcBef>
                <a:spcPts val="0"/>
              </a:spcBef>
              <a:spcAft>
                <a:spcPts val="0"/>
              </a:spcAft>
            </a:pPr>
            <a:r>
              <a:rPr sz="1200" b="0">
                <a:solidFill>
                  <a:srgbClr val="2A1E33"/>
                </a:solidFill>
                <a:latin typeface="Noto Sans"/>
              </a:rPr>
              <a:t>Dataset kompilasi dan sumber per angka terbuka di repo, lengkap dengan notebook analisis dan query SQL.</a:t>
            </a:r>
          </a:p>
        </p:txBody>
      </p:sp>
      <p:sp>
        <p:nvSpPr>
          <p:cNvPr id="11" name="Rounded Rectangle 10"/>
          <p:cNvSpPr/>
          <p:nvPr/>
        </p:nvSpPr>
        <p:spPr>
          <a:xfrm>
            <a:off x="502920" y="4892040"/>
            <a:ext cx="11183112" cy="1463040"/>
          </a:xfrm>
          <a:prstGeom prst="roundRect">
            <a:avLst>
              <a:gd name="adj" fmla="val 5500"/>
            </a:avLst>
          </a:prstGeom>
          <a:solidFill>
            <a:srgbClr val="5E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93792"/>
            <a:ext cx="6949440" cy="914400"/>
          </a:xfrm>
          <a:prstGeom prst="rect">
            <a:avLst/>
          </a:prstGeom>
          <a:noFill/>
        </p:spPr>
        <p:txBody>
          <a:bodyPr wrap="square" anchor="t" lIns="0" rIns="0" tIns="0" bIns="0">
            <a:spAutoFit/>
          </a:bodyPr>
          <a:lstStyle/>
          <a:p>
            <a:pPr>
              <a:lnSpc>
                <a:spcPct val="113000"/>
              </a:lnSpc>
              <a:spcBef>
                <a:spcPts val="0"/>
              </a:spcBef>
              <a:spcAft>
                <a:spcPts val="300"/>
              </a:spcAft>
            </a:pPr>
            <a:r>
              <a:rPr sz="2300" b="1">
                <a:solidFill>
                  <a:srgbClr val="FFFFFF"/>
                </a:solidFill>
                <a:latin typeface="Noto Sans"/>
              </a:rPr>
              <a:t>BAGHIZ ASSHIDDIQIE ARASYA</a:t>
            </a:r>
          </a:p>
          <a:p>
            <a:pPr>
              <a:lnSpc>
                <a:spcPct val="113000"/>
              </a:lnSpc>
              <a:spcBef>
                <a:spcPts val="0"/>
              </a:spcBef>
              <a:spcAft>
                <a:spcPts val="0"/>
              </a:spcAft>
            </a:pPr>
            <a:r>
              <a:rPr sz="1350" b="0">
                <a:solidFill>
                  <a:srgbClr val="EF7D1A"/>
                </a:solidFill>
                <a:latin typeface="Noto Sans"/>
              </a:rPr>
              <a:t>github.com/baghizash/ispa-indonesia-2026-analysis</a:t>
            </a:r>
          </a:p>
        </p:txBody>
      </p:sp>
      <p:sp>
        <p:nvSpPr>
          <p:cNvPr id="13" name="TextBox 12"/>
          <p:cNvSpPr txBox="1"/>
          <p:nvPr/>
        </p:nvSpPr>
        <p:spPr>
          <a:xfrm>
            <a:off x="8138160" y="5321808"/>
            <a:ext cx="3154680" cy="777240"/>
          </a:xfrm>
          <a:prstGeom prst="rect">
            <a:avLst/>
          </a:prstGeom>
          <a:noFill/>
        </p:spPr>
        <p:txBody>
          <a:bodyPr wrap="square" anchor="t" lIns="0" rIns="0" tIns="0" bIns="0">
            <a:spAutoFit/>
          </a:bodyPr>
          <a:lstStyle/>
          <a:p>
            <a:pPr>
              <a:lnSpc>
                <a:spcPct val="113000"/>
              </a:lnSpc>
              <a:spcBef>
                <a:spcPts val="0"/>
              </a:spcBef>
              <a:spcAft>
                <a:spcPts val="0"/>
              </a:spcAft>
            </a:pPr>
            <a:r>
              <a:rPr sz="1250" b="0">
                <a:solidFill>
                  <a:srgbClr val="F8F2E4"/>
                </a:solidFill>
                <a:latin typeface="Noto Sans"/>
              </a:rPr>
              <a:t>Terima kasih. Silakan jelajahi repo dan dashboardnya, semua angka terbuka untuk dicek ulang.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